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ioSfz4tgm7PC8EaOAxeyWw5ecP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jpg"/><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4722243" y="142336"/>
            <a:ext cx="4336931"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000"/>
              <a:buFont typeface="Calibri"/>
              <a:buNone/>
            </a:pPr>
            <a:r>
              <a:rPr b="1" lang="en-US" sz="4000"/>
              <a:t>AN AI BASED APPROACH</a:t>
            </a:r>
            <a:endParaRPr b="1" sz="4000"/>
          </a:p>
        </p:txBody>
      </p:sp>
      <p:pic>
        <p:nvPicPr>
          <p:cNvPr descr="Artificial Intelligence in Cybersecurity - Inflow Technologies" id="85" name="Google Shape;85;p1"/>
          <p:cNvPicPr preferRelativeResize="0"/>
          <p:nvPr/>
        </p:nvPicPr>
        <p:blipFill rotWithShape="1">
          <a:blip r:embed="rId3">
            <a:alphaModFix/>
          </a:blip>
          <a:srcRect b="0" l="0" r="0" t="0"/>
          <a:stretch/>
        </p:blipFill>
        <p:spPr>
          <a:xfrm>
            <a:off x="56262" y="1690099"/>
            <a:ext cx="8843515" cy="4974475"/>
          </a:xfrm>
          <a:prstGeom prst="rect">
            <a:avLst/>
          </a:prstGeom>
          <a:noFill/>
          <a:ln>
            <a:noFill/>
          </a:ln>
        </p:spPr>
      </p:pic>
      <p:sp>
        <p:nvSpPr>
          <p:cNvPr id="86" name="Google Shape;86;p1"/>
          <p:cNvSpPr txBox="1"/>
          <p:nvPr/>
        </p:nvSpPr>
        <p:spPr>
          <a:xfrm>
            <a:off x="152400" y="152400"/>
            <a:ext cx="4336931" cy="1470025"/>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4000"/>
              <a:buFont typeface="Calibri"/>
              <a:buNone/>
            </a:pPr>
            <a:r>
              <a:rPr b="1" lang="en-US" sz="4000">
                <a:solidFill>
                  <a:schemeClr val="dk1"/>
                </a:solidFill>
                <a:highlight>
                  <a:schemeClr val="lt1"/>
                </a:highlight>
                <a:latin typeface="Calibri"/>
                <a:ea typeface="Calibri"/>
                <a:cs typeface="Calibri"/>
                <a:sym typeface="Calibri"/>
              </a:rPr>
              <a:t>ENDPOINT</a:t>
            </a:r>
            <a:r>
              <a:rPr b="1" i="0" lang="en-US" sz="4000" u="none" cap="none" strike="noStrike">
                <a:solidFill>
                  <a:schemeClr val="dk1"/>
                </a:solidFill>
                <a:highlight>
                  <a:schemeClr val="lt1"/>
                </a:highlight>
                <a:latin typeface="Calibri"/>
                <a:ea typeface="Calibri"/>
                <a:cs typeface="Calibri"/>
                <a:sym typeface="Calibri"/>
              </a:rPr>
              <a:t> SECURITY TOOL</a:t>
            </a:r>
            <a:endParaRPr b="1" i="0" sz="4000" u="none" cap="none" strike="noStrike">
              <a:solidFill>
                <a:schemeClr val="dk1"/>
              </a:solidFill>
              <a:highlight>
                <a:schemeClr val="lt1"/>
              </a:highlight>
              <a:latin typeface="Calibri"/>
              <a:ea typeface="Calibri"/>
              <a:cs typeface="Calibri"/>
              <a:sym typeface="Calibri"/>
            </a:endParaRPr>
          </a:p>
        </p:txBody>
      </p:sp>
      <p:sp>
        <p:nvSpPr>
          <p:cNvPr id="87" name="Google Shape;87;p1"/>
          <p:cNvSpPr/>
          <p:nvPr/>
        </p:nvSpPr>
        <p:spPr>
          <a:xfrm>
            <a:off x="4447607" y="502691"/>
            <a:ext cx="340158"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400" u="none" cap="none" strike="noStrike">
                <a:solidFill>
                  <a:schemeClr val="dk1"/>
                </a:solidFill>
                <a:latin typeface="Calibri"/>
                <a:ea typeface="Calibri"/>
                <a:cs typeface="Calibri"/>
                <a:sym typeface="Calibri"/>
              </a:rPr>
              <a:t>:</a:t>
            </a:r>
            <a:endParaRPr sz="44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2"/>
          <p:cNvSpPr txBox="1"/>
          <p:nvPr/>
        </p:nvSpPr>
        <p:spPr>
          <a:xfrm>
            <a:off x="211347" y="0"/>
            <a:ext cx="8229600"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0000"/>
              </a:buClr>
              <a:buSzPts val="4400"/>
              <a:buFont typeface="Calibri"/>
              <a:buNone/>
            </a:pPr>
            <a:r>
              <a:rPr b="1" lang="en-US" sz="4400">
                <a:solidFill>
                  <a:schemeClr val="dk1"/>
                </a:solidFill>
                <a:latin typeface="Calibri"/>
                <a:ea typeface="Calibri"/>
                <a:cs typeface="Calibri"/>
                <a:sym typeface="Calibri"/>
              </a:rPr>
              <a:t>PROBLEM STATEMENT!!!</a:t>
            </a:r>
            <a:endParaRPr b="1" sz="4400">
              <a:solidFill>
                <a:schemeClr val="dk1"/>
              </a:solidFill>
              <a:latin typeface="Calibri"/>
              <a:ea typeface="Calibri"/>
              <a:cs typeface="Calibri"/>
              <a:sym typeface="Calibri"/>
            </a:endParaRPr>
          </a:p>
        </p:txBody>
      </p:sp>
      <p:pic>
        <p:nvPicPr>
          <p:cNvPr id="93" name="Google Shape;93;p2"/>
          <p:cNvPicPr preferRelativeResize="0"/>
          <p:nvPr/>
        </p:nvPicPr>
        <p:blipFill rotWithShape="1">
          <a:blip r:embed="rId3">
            <a:alphaModFix/>
          </a:blip>
          <a:srcRect b="0" l="0" r="0" t="0"/>
          <a:stretch/>
        </p:blipFill>
        <p:spPr>
          <a:xfrm>
            <a:off x="0" y="843951"/>
            <a:ext cx="9144000" cy="2885243"/>
          </a:xfrm>
          <a:prstGeom prst="rect">
            <a:avLst/>
          </a:prstGeom>
          <a:noFill/>
          <a:ln>
            <a:noFill/>
          </a:ln>
        </p:spPr>
      </p:pic>
      <p:sp>
        <p:nvSpPr>
          <p:cNvPr id="94" name="Google Shape;94;p2"/>
          <p:cNvSpPr txBox="1"/>
          <p:nvPr/>
        </p:nvSpPr>
        <p:spPr>
          <a:xfrm>
            <a:off x="-76200" y="3352800"/>
            <a:ext cx="5019472" cy="2006025"/>
          </a:xfrm>
          <a:prstGeom prst="rect">
            <a:avLst/>
          </a:prstGeom>
          <a:noFill/>
          <a:ln>
            <a:noFill/>
          </a:ln>
        </p:spPr>
        <p:txBody>
          <a:bodyPr anchorCtr="0" anchor="t" bIns="45700" lIns="91425" spcFirstLastPara="1" rIns="91425" wrap="square" tIns="45700">
            <a:noAutofit/>
          </a:bodyPr>
          <a:lstStyle/>
          <a:p>
            <a:pPr indent="0" lvl="0" marL="82296" marR="0" rtl="0" algn="ctr">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82296" marR="0" rtl="0" algn="ctr">
              <a:spcBef>
                <a:spcPts val="480"/>
              </a:spcBef>
              <a:spcAft>
                <a:spcPts val="0"/>
              </a:spcAft>
              <a:buClr>
                <a:schemeClr val="lt1"/>
              </a:buClr>
              <a:buSzPts val="2400"/>
              <a:buFont typeface="Arial"/>
              <a:buNone/>
            </a:pPr>
            <a:r>
              <a:rPr lang="en-US" sz="2400">
                <a:solidFill>
                  <a:schemeClr val="dk1"/>
                </a:solidFill>
                <a:latin typeface="Calibri"/>
                <a:ea typeface="Calibri"/>
                <a:cs typeface="Calibri"/>
                <a:sym typeface="Calibri"/>
              </a:rPr>
              <a:t>Goal is to build a product that will protect End Point Systems from Local Code Execution Attacks.</a:t>
            </a:r>
            <a:endParaRPr sz="2400">
              <a:solidFill>
                <a:schemeClr val="dk1"/>
              </a:solidFill>
              <a:latin typeface="Calibri"/>
              <a:ea typeface="Calibri"/>
              <a:cs typeface="Calibri"/>
              <a:sym typeface="Calibri"/>
            </a:endParaRPr>
          </a:p>
        </p:txBody>
      </p:sp>
      <p:sp>
        <p:nvSpPr>
          <p:cNvPr id="95" name="Google Shape;95;p2"/>
          <p:cNvSpPr txBox="1"/>
          <p:nvPr/>
        </p:nvSpPr>
        <p:spPr>
          <a:xfrm>
            <a:off x="3742426" y="5181600"/>
            <a:ext cx="52578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Enhance the accuracy in Malware Classification  and Detection  strategies by studying existing strategies and developing new ones</a:t>
            </a:r>
            <a:endParaRPr sz="2400">
              <a:solidFill>
                <a:schemeClr val="dk1"/>
              </a:solidFill>
              <a:latin typeface="Calibri"/>
              <a:ea typeface="Calibri"/>
              <a:cs typeface="Calibri"/>
              <a:sym typeface="Calibri"/>
            </a:endParaRPr>
          </a:p>
        </p:txBody>
      </p:sp>
      <p:sp>
        <p:nvSpPr>
          <p:cNvPr id="96" name="Google Shape;96;p2"/>
          <p:cNvSpPr/>
          <p:nvPr/>
        </p:nvSpPr>
        <p:spPr>
          <a:xfrm rot="5400000">
            <a:off x="1981200" y="4803475"/>
            <a:ext cx="1066800" cy="1371600"/>
          </a:xfrm>
          <a:prstGeom prst="bentUpArrow">
            <a:avLst>
              <a:gd fmla="val 25000" name="adj1"/>
              <a:gd fmla="val 25000" name="adj2"/>
              <a:gd fmla="val 25000" name="adj3"/>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3"/>
          <p:cNvSpPr txBox="1"/>
          <p:nvPr/>
        </p:nvSpPr>
        <p:spPr>
          <a:xfrm>
            <a:off x="266700" y="3810000"/>
            <a:ext cx="8610600" cy="2678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Implement techniques that use TECHNOLOGIES/CONCEPTS:</a:t>
            </a:r>
            <a:endParaRPr>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Malware Analysis </a:t>
            </a:r>
            <a:endParaRPr>
              <a:solidFill>
                <a:schemeClr val="dk1"/>
              </a:solidFill>
              <a:latin typeface="Calibri"/>
              <a:ea typeface="Calibri"/>
              <a:cs typeface="Calibri"/>
              <a:sym typeface="Calibri"/>
            </a:endParaRPr>
          </a:p>
          <a:p>
            <a:pPr indent="-457200" lvl="1" marL="914400" marR="0" rtl="0" algn="l">
              <a:spcBef>
                <a:spcPts val="0"/>
              </a:spcBef>
              <a:spcAft>
                <a:spcPts val="0"/>
              </a:spcAft>
              <a:buClr>
                <a:schemeClr val="dk1"/>
              </a:buClr>
              <a:buSzPts val="2400"/>
              <a:buFont typeface="Calibri"/>
              <a:buAutoNum type="arabicPeriod"/>
            </a:pPr>
            <a:r>
              <a:rPr i="0" lang="en-US" sz="2400" u="none" cap="none" strike="noStrike">
                <a:solidFill>
                  <a:schemeClr val="dk1"/>
                </a:solidFill>
                <a:latin typeface="Calibri"/>
                <a:ea typeface="Calibri"/>
                <a:cs typeface="Calibri"/>
                <a:sym typeface="Calibri"/>
              </a:rPr>
              <a:t>Static and Dynamic Analysis</a:t>
            </a:r>
            <a:endParaRPr>
              <a:solidFill>
                <a:schemeClr val="dk1"/>
              </a:solidFill>
              <a:latin typeface="Calibri"/>
              <a:ea typeface="Calibri"/>
              <a:cs typeface="Calibri"/>
              <a:sym typeface="Calibri"/>
            </a:endParaRPr>
          </a:p>
          <a:p>
            <a:pPr indent="-457200" lvl="1" marL="914400" marR="0" rtl="0" algn="l">
              <a:spcBef>
                <a:spcPts val="0"/>
              </a:spcBef>
              <a:spcAft>
                <a:spcPts val="0"/>
              </a:spcAft>
              <a:buClr>
                <a:schemeClr val="dk1"/>
              </a:buClr>
              <a:buSzPts val="2400"/>
              <a:buFont typeface="Calibri"/>
              <a:buAutoNum type="arabicPeriod"/>
            </a:pPr>
            <a:r>
              <a:rPr i="0" lang="en-US" sz="2400" u="none" cap="none" strike="noStrike">
                <a:solidFill>
                  <a:schemeClr val="dk1"/>
                </a:solidFill>
                <a:latin typeface="Calibri"/>
                <a:ea typeface="Calibri"/>
                <a:cs typeface="Calibri"/>
                <a:sym typeface="Calibri"/>
              </a:rPr>
              <a:t>Memory Forensics</a:t>
            </a:r>
            <a:endParaRPr>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Artificial Intelligence</a:t>
            </a:r>
            <a:endParaRPr>
              <a:solidFill>
                <a:schemeClr val="dk1"/>
              </a:solidFill>
              <a:latin typeface="Calibri"/>
              <a:ea typeface="Calibri"/>
              <a:cs typeface="Calibri"/>
              <a:sym typeface="Calibri"/>
            </a:endParaRPr>
          </a:p>
          <a:p>
            <a:pPr indent="-457200" lvl="1" marL="914400" marR="0" rtl="0" algn="l">
              <a:spcBef>
                <a:spcPts val="0"/>
              </a:spcBef>
              <a:spcAft>
                <a:spcPts val="0"/>
              </a:spcAft>
              <a:buClr>
                <a:schemeClr val="dk1"/>
              </a:buClr>
              <a:buSzPts val="2400"/>
              <a:buFont typeface="Calibri"/>
              <a:buAutoNum type="arabicPeriod"/>
            </a:pPr>
            <a:r>
              <a:rPr i="0" lang="en-US" sz="2400" u="none" cap="none" strike="noStrike">
                <a:solidFill>
                  <a:schemeClr val="dk1"/>
                </a:solidFill>
                <a:latin typeface="Calibri"/>
                <a:ea typeface="Calibri"/>
                <a:cs typeface="Calibri"/>
                <a:sym typeface="Calibri"/>
              </a:rPr>
              <a:t>Machine Learning</a:t>
            </a:r>
            <a:endParaRPr>
              <a:solidFill>
                <a:schemeClr val="dk1"/>
              </a:solidFill>
              <a:latin typeface="Calibri"/>
              <a:ea typeface="Calibri"/>
              <a:cs typeface="Calibri"/>
              <a:sym typeface="Calibri"/>
            </a:endParaRPr>
          </a:p>
          <a:p>
            <a:pPr indent="-457200" lvl="1" marL="914400" marR="0" rtl="0" algn="l">
              <a:spcBef>
                <a:spcPts val="0"/>
              </a:spcBef>
              <a:spcAft>
                <a:spcPts val="0"/>
              </a:spcAft>
              <a:buClr>
                <a:schemeClr val="dk1"/>
              </a:buClr>
              <a:buSzPts val="2400"/>
              <a:buFont typeface="Calibri"/>
              <a:buAutoNum type="arabicPeriod"/>
            </a:pPr>
            <a:r>
              <a:rPr i="0" lang="en-US" sz="2400" u="none" cap="none" strike="noStrike">
                <a:solidFill>
                  <a:schemeClr val="dk1"/>
                </a:solidFill>
                <a:latin typeface="Calibri"/>
                <a:ea typeface="Calibri"/>
                <a:cs typeface="Calibri"/>
                <a:sym typeface="Calibri"/>
              </a:rPr>
              <a:t>Deep Learning</a:t>
            </a:r>
            <a:endParaRPr>
              <a:solidFill>
                <a:schemeClr val="dk1"/>
              </a:solidFill>
              <a:latin typeface="Calibri"/>
              <a:ea typeface="Calibri"/>
              <a:cs typeface="Calibri"/>
              <a:sym typeface="Calibri"/>
            </a:endParaRPr>
          </a:p>
        </p:txBody>
      </p:sp>
      <p:pic>
        <p:nvPicPr>
          <p:cNvPr descr="D:\Projects\EndPoint Security Tool\Presentation\Images\60914285-flat-line-design-illustration-concept-plan-of-mobile-application-development-process-app-design-prog.jpg" id="102" name="Google Shape;102;p3"/>
          <p:cNvPicPr preferRelativeResize="0"/>
          <p:nvPr/>
        </p:nvPicPr>
        <p:blipFill rotWithShape="1">
          <a:blip r:embed="rId3">
            <a:alphaModFix/>
          </a:blip>
          <a:srcRect b="0" l="0" r="0" t="0"/>
          <a:stretch/>
        </p:blipFill>
        <p:spPr>
          <a:xfrm>
            <a:off x="-4313" y="698441"/>
            <a:ext cx="9144000" cy="2905963"/>
          </a:xfrm>
          <a:prstGeom prst="rect">
            <a:avLst/>
          </a:prstGeom>
          <a:noFill/>
          <a:ln>
            <a:noFill/>
          </a:ln>
        </p:spPr>
      </p:pic>
      <p:sp>
        <p:nvSpPr>
          <p:cNvPr id="103" name="Google Shape;103;p3"/>
          <p:cNvSpPr txBox="1"/>
          <p:nvPr/>
        </p:nvSpPr>
        <p:spPr>
          <a:xfrm>
            <a:off x="457200" y="-76200"/>
            <a:ext cx="8229600" cy="1143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FF0000"/>
              </a:buClr>
              <a:buSzPts val="4400"/>
              <a:buFont typeface="Calibri"/>
              <a:buNone/>
            </a:pPr>
            <a:r>
              <a:rPr b="1" lang="en-US" sz="4400">
                <a:solidFill>
                  <a:schemeClr val="dk1"/>
                </a:solidFill>
                <a:latin typeface="Calibri"/>
                <a:ea typeface="Calibri"/>
                <a:cs typeface="Calibri"/>
                <a:sym typeface="Calibri"/>
              </a:rPr>
              <a:t>THE PROCESS</a:t>
            </a:r>
            <a:endParaRPr b="1" sz="4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pic>
        <p:nvPicPr>
          <p:cNvPr descr="C:\Users\vedaa\Downloads\Untitled Diagram (1).jpg" id="108" name="Google Shape;108;p4"/>
          <p:cNvPicPr preferRelativeResize="0"/>
          <p:nvPr/>
        </p:nvPicPr>
        <p:blipFill rotWithShape="1">
          <a:blip r:embed="rId3">
            <a:alphaModFix/>
          </a:blip>
          <a:srcRect b="0" l="0" r="0" t="0"/>
          <a:stretch/>
        </p:blipFill>
        <p:spPr>
          <a:xfrm>
            <a:off x="4130734" y="0"/>
            <a:ext cx="5013266" cy="6858000"/>
          </a:xfrm>
          <a:prstGeom prst="rect">
            <a:avLst/>
          </a:prstGeom>
          <a:noFill/>
          <a:ln>
            <a:noFill/>
          </a:ln>
        </p:spPr>
      </p:pic>
      <p:sp>
        <p:nvSpPr>
          <p:cNvPr id="109" name="Google Shape;109;p4"/>
          <p:cNvSpPr txBox="1"/>
          <p:nvPr/>
        </p:nvSpPr>
        <p:spPr>
          <a:xfrm>
            <a:off x="51758" y="1219200"/>
            <a:ext cx="4078976" cy="114300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ctr">
              <a:spcBef>
                <a:spcPts val="0"/>
              </a:spcBef>
              <a:spcAft>
                <a:spcPts val="0"/>
              </a:spcAft>
              <a:buClr>
                <a:srgbClr val="FF0000"/>
              </a:buClr>
              <a:buSzPct val="100000"/>
              <a:buFont typeface="Calibri"/>
              <a:buNone/>
            </a:pPr>
            <a:r>
              <a:rPr b="1" lang="en-US" sz="4400">
                <a:solidFill>
                  <a:schemeClr val="dk1"/>
                </a:solidFill>
                <a:latin typeface="Calibri"/>
                <a:ea typeface="Calibri"/>
                <a:cs typeface="Calibri"/>
                <a:sym typeface="Calibri"/>
              </a:rPr>
              <a:t>FLOW OF CODE OF PROJECT</a:t>
            </a:r>
            <a:endParaRPr b="1" sz="4400">
              <a:solidFill>
                <a:schemeClr val="dk1"/>
              </a:solidFill>
              <a:latin typeface="Calibri"/>
              <a:ea typeface="Calibri"/>
              <a:cs typeface="Calibri"/>
              <a:sym typeface="Calibri"/>
            </a:endParaRPr>
          </a:p>
        </p:txBody>
      </p:sp>
      <p:sp>
        <p:nvSpPr>
          <p:cNvPr id="110" name="Google Shape;110;p4"/>
          <p:cNvSpPr txBox="1"/>
          <p:nvPr/>
        </p:nvSpPr>
        <p:spPr>
          <a:xfrm>
            <a:off x="15815" y="2819400"/>
            <a:ext cx="4079100" cy="304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highlight>
                  <a:schemeClr val="lt1"/>
                </a:highlight>
                <a:latin typeface="Calibri"/>
                <a:ea typeface="Calibri"/>
                <a:cs typeface="Calibri"/>
                <a:sym typeface="Calibri"/>
              </a:rPr>
              <a:t>The Project flow can be classified into 4 separate phases:</a:t>
            </a:r>
            <a:endParaRPr>
              <a:solidFill>
                <a:schemeClr val="dk1"/>
              </a:solidFill>
              <a:highlight>
                <a:schemeClr val="lt1"/>
              </a:highlight>
              <a:latin typeface="Calibri"/>
              <a:ea typeface="Calibri"/>
              <a:cs typeface="Calibri"/>
              <a:sym typeface="Calibri"/>
            </a:endParaRPr>
          </a:p>
          <a:p>
            <a:pPr indent="-342900" lvl="0" marL="342900" marR="0" rtl="0" algn="l">
              <a:spcBef>
                <a:spcPts val="0"/>
              </a:spcBef>
              <a:spcAft>
                <a:spcPts val="0"/>
              </a:spcAft>
              <a:buClr>
                <a:schemeClr val="dk1"/>
              </a:buClr>
              <a:buSzPts val="2400"/>
              <a:buFont typeface="Calibri"/>
              <a:buChar char="•"/>
            </a:pPr>
            <a:r>
              <a:rPr lang="en-US" sz="2400">
                <a:solidFill>
                  <a:schemeClr val="dk1"/>
                </a:solidFill>
                <a:highlight>
                  <a:schemeClr val="lt1"/>
                </a:highlight>
                <a:latin typeface="Calibri"/>
                <a:ea typeface="Calibri"/>
                <a:cs typeface="Calibri"/>
                <a:sym typeface="Calibri"/>
              </a:rPr>
              <a:t>LAB SETUP</a:t>
            </a:r>
            <a:endParaRPr>
              <a:solidFill>
                <a:schemeClr val="dk1"/>
              </a:solidFill>
              <a:highlight>
                <a:schemeClr val="lt1"/>
              </a:highlight>
              <a:latin typeface="Calibri"/>
              <a:ea typeface="Calibri"/>
              <a:cs typeface="Calibri"/>
              <a:sym typeface="Calibri"/>
            </a:endParaRPr>
          </a:p>
          <a:p>
            <a:pPr indent="-342900" lvl="0" marL="342900" marR="0" rtl="0" algn="l">
              <a:spcBef>
                <a:spcPts val="0"/>
              </a:spcBef>
              <a:spcAft>
                <a:spcPts val="0"/>
              </a:spcAft>
              <a:buClr>
                <a:schemeClr val="dk1"/>
              </a:buClr>
              <a:buSzPts val="2400"/>
              <a:buFont typeface="Calibri"/>
              <a:buChar char="•"/>
            </a:pPr>
            <a:r>
              <a:rPr lang="en-US" sz="2400">
                <a:solidFill>
                  <a:schemeClr val="dk1"/>
                </a:solidFill>
                <a:highlight>
                  <a:schemeClr val="lt1"/>
                </a:highlight>
                <a:latin typeface="Calibri"/>
                <a:ea typeface="Calibri"/>
                <a:cs typeface="Calibri"/>
                <a:sym typeface="Calibri"/>
              </a:rPr>
              <a:t>SAMPLE GENERATION</a:t>
            </a:r>
            <a:endParaRPr>
              <a:solidFill>
                <a:schemeClr val="dk1"/>
              </a:solidFill>
              <a:highlight>
                <a:schemeClr val="lt1"/>
              </a:highlight>
              <a:latin typeface="Calibri"/>
              <a:ea typeface="Calibri"/>
              <a:cs typeface="Calibri"/>
              <a:sym typeface="Calibri"/>
            </a:endParaRPr>
          </a:p>
          <a:p>
            <a:pPr indent="-342900" lvl="0" marL="342900" marR="0" rtl="0" algn="l">
              <a:spcBef>
                <a:spcPts val="0"/>
              </a:spcBef>
              <a:spcAft>
                <a:spcPts val="0"/>
              </a:spcAft>
              <a:buClr>
                <a:schemeClr val="dk1"/>
              </a:buClr>
              <a:buSzPts val="2400"/>
              <a:buFont typeface="Calibri"/>
              <a:buChar char="•"/>
            </a:pPr>
            <a:r>
              <a:rPr lang="en-US" sz="2400">
                <a:solidFill>
                  <a:schemeClr val="dk1"/>
                </a:solidFill>
                <a:highlight>
                  <a:schemeClr val="lt1"/>
                </a:highlight>
                <a:latin typeface="Calibri"/>
                <a:ea typeface="Calibri"/>
                <a:cs typeface="Calibri"/>
                <a:sym typeface="Calibri"/>
              </a:rPr>
              <a:t>MEMORY ANALYSIS</a:t>
            </a:r>
            <a:endParaRPr>
              <a:solidFill>
                <a:schemeClr val="dk1"/>
              </a:solidFill>
              <a:highlight>
                <a:schemeClr val="lt1"/>
              </a:highlight>
              <a:latin typeface="Calibri"/>
              <a:ea typeface="Calibri"/>
              <a:cs typeface="Calibri"/>
              <a:sym typeface="Calibri"/>
            </a:endParaRPr>
          </a:p>
          <a:p>
            <a:pPr indent="-342900" lvl="0" marL="342900" marR="0" rtl="0" algn="l">
              <a:spcBef>
                <a:spcPts val="0"/>
              </a:spcBef>
              <a:spcAft>
                <a:spcPts val="0"/>
              </a:spcAft>
              <a:buClr>
                <a:schemeClr val="dk1"/>
              </a:buClr>
              <a:buSzPts val="2400"/>
              <a:buFont typeface="Calibri"/>
              <a:buChar char="•"/>
            </a:pPr>
            <a:r>
              <a:rPr lang="en-US" sz="2400">
                <a:solidFill>
                  <a:schemeClr val="dk1"/>
                </a:solidFill>
                <a:highlight>
                  <a:schemeClr val="lt1"/>
                </a:highlight>
                <a:latin typeface="Calibri"/>
                <a:ea typeface="Calibri"/>
                <a:cs typeface="Calibri"/>
                <a:sym typeface="Calibri"/>
              </a:rPr>
              <a:t>ARTIFICIAL INTELLIGENCE</a:t>
            </a:r>
            <a:endParaRPr>
              <a:solidFill>
                <a:schemeClr val="dk1"/>
              </a:solidFill>
              <a:highlight>
                <a:schemeClr val="lt1"/>
              </a:highlight>
              <a:latin typeface="Calibri"/>
              <a:ea typeface="Calibri"/>
              <a:cs typeface="Calibri"/>
              <a:sym typeface="Calibri"/>
            </a:endParaRPr>
          </a:p>
          <a:p>
            <a:pPr indent="0" lvl="0" marL="0" marR="0" rtl="0" algn="ctr">
              <a:spcBef>
                <a:spcPts val="0"/>
              </a:spcBef>
              <a:spcAft>
                <a:spcPts val="0"/>
              </a:spcAft>
              <a:buNone/>
            </a:pPr>
            <a:r>
              <a:t/>
            </a:r>
            <a:endParaRPr sz="2400">
              <a:solidFill>
                <a:schemeClr val="dk1"/>
              </a:solidFill>
              <a:highlight>
                <a:schemeClr val="lt1"/>
              </a:highlight>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5"/>
          <p:cNvSpPr txBox="1"/>
          <p:nvPr>
            <p:ph type="title"/>
          </p:nvPr>
        </p:nvSpPr>
        <p:spPr>
          <a:xfrm>
            <a:off x="-67574" y="411193"/>
            <a:ext cx="4672642"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0000"/>
              </a:buClr>
              <a:buSzPts val="4000"/>
              <a:buFont typeface="Calibri"/>
              <a:buNone/>
            </a:pPr>
            <a:r>
              <a:rPr b="1" lang="en-US" sz="4000">
                <a:highlight>
                  <a:schemeClr val="lt1"/>
                </a:highlight>
              </a:rPr>
              <a:t>MALWARE ANALYSIS</a:t>
            </a:r>
            <a:br>
              <a:rPr b="1" lang="en-US" sz="4000">
                <a:highlight>
                  <a:schemeClr val="lt1"/>
                </a:highlight>
              </a:rPr>
            </a:br>
            <a:r>
              <a:rPr b="1" lang="en-US" sz="4000">
                <a:highlight>
                  <a:schemeClr val="lt1"/>
                </a:highlight>
              </a:rPr>
              <a:t>LAB SETUP</a:t>
            </a:r>
            <a:endParaRPr>
              <a:highlight>
                <a:schemeClr val="lt1"/>
              </a:highlight>
            </a:endParaRPr>
          </a:p>
        </p:txBody>
      </p:sp>
      <p:sp>
        <p:nvSpPr>
          <p:cNvPr id="116" name="Google Shape;116;p5"/>
          <p:cNvSpPr txBox="1"/>
          <p:nvPr/>
        </p:nvSpPr>
        <p:spPr>
          <a:xfrm>
            <a:off x="4495800" y="365185"/>
            <a:ext cx="4572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To analyze malware, there is a need to setup a complete LAB including hypervisors,  malware analysis tools, forensics tools etc.. </a:t>
            </a:r>
            <a:endParaRPr sz="2400">
              <a:solidFill>
                <a:schemeClr val="dk1"/>
              </a:solidFill>
              <a:latin typeface="Calibri"/>
              <a:ea typeface="Calibri"/>
              <a:cs typeface="Calibri"/>
              <a:sym typeface="Calibri"/>
            </a:endParaRPr>
          </a:p>
        </p:txBody>
      </p:sp>
      <p:sp>
        <p:nvSpPr>
          <p:cNvPr id="117" name="Google Shape;117;p5"/>
          <p:cNvSpPr txBox="1"/>
          <p:nvPr/>
        </p:nvSpPr>
        <p:spPr>
          <a:xfrm>
            <a:off x="218536" y="2185358"/>
            <a:ext cx="87732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MALWARE ANALYSIS LAB SETUP:</a:t>
            </a:r>
            <a:endParaRPr>
              <a:solidFill>
                <a:schemeClr val="dk1"/>
              </a:solidFill>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1. VMware machine with WINDOWS 10(trial)</a:t>
            </a:r>
            <a:endParaRPr>
              <a:solidFill>
                <a:schemeClr val="dk1"/>
              </a:solidFill>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2. Installation of  FLARE-VM over Windows OS</a:t>
            </a:r>
            <a:endParaRPr>
              <a:solidFill>
                <a:schemeClr val="dk1"/>
              </a:solidFill>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18" name="Google Shape;118;p5"/>
          <p:cNvSpPr txBox="1"/>
          <p:nvPr/>
        </p:nvSpPr>
        <p:spPr>
          <a:xfrm>
            <a:off x="218536" y="3755018"/>
            <a:ext cx="87732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highlight>
                  <a:schemeClr val="lt1"/>
                </a:highlight>
                <a:latin typeface="Calibri"/>
                <a:ea typeface="Calibri"/>
                <a:cs typeface="Calibri"/>
                <a:sym typeface="Calibri"/>
              </a:rPr>
              <a:t>MEMORY FORENSICS LAB SETUP:</a:t>
            </a:r>
            <a:endParaRPr>
              <a:solidFill>
                <a:schemeClr val="dk1"/>
              </a:solidFill>
              <a:highlight>
                <a:schemeClr val="lt1"/>
              </a:highlight>
            </a:endParaRPr>
          </a:p>
          <a:p>
            <a:pPr indent="0" lvl="0" marL="0" marR="0" rtl="0" algn="l">
              <a:spcBef>
                <a:spcPts val="0"/>
              </a:spcBef>
              <a:spcAft>
                <a:spcPts val="0"/>
              </a:spcAft>
              <a:buNone/>
            </a:pPr>
            <a:r>
              <a:rPr lang="en-US" sz="2000">
                <a:solidFill>
                  <a:schemeClr val="dk1"/>
                </a:solidFill>
                <a:highlight>
                  <a:schemeClr val="lt1"/>
                </a:highlight>
                <a:latin typeface="Calibri"/>
                <a:ea typeface="Calibri"/>
                <a:cs typeface="Calibri"/>
                <a:sym typeface="Calibri"/>
              </a:rPr>
              <a:t>1. VMware machine with UBUNTU 18.04</a:t>
            </a:r>
            <a:endParaRPr>
              <a:solidFill>
                <a:schemeClr val="dk1"/>
              </a:solidFill>
              <a:highlight>
                <a:schemeClr val="lt1"/>
              </a:highlight>
            </a:endParaRPr>
          </a:p>
          <a:p>
            <a:pPr indent="0" lvl="0" marL="0" marR="0" rtl="0" algn="l">
              <a:spcBef>
                <a:spcPts val="0"/>
              </a:spcBef>
              <a:spcAft>
                <a:spcPts val="0"/>
              </a:spcAft>
              <a:buNone/>
            </a:pPr>
            <a:r>
              <a:rPr lang="en-US" sz="2000">
                <a:solidFill>
                  <a:schemeClr val="dk1"/>
                </a:solidFill>
                <a:highlight>
                  <a:schemeClr val="lt1"/>
                </a:highlight>
                <a:latin typeface="Calibri"/>
                <a:ea typeface="Calibri"/>
                <a:cs typeface="Calibri"/>
                <a:sym typeface="Calibri"/>
              </a:rPr>
              <a:t>2. Installation of CUCKOO Sandbox </a:t>
            </a:r>
            <a:endParaRPr>
              <a:solidFill>
                <a:schemeClr val="dk1"/>
              </a:solidFill>
              <a:highlight>
                <a:schemeClr val="lt1"/>
              </a:highlight>
            </a:endParaRPr>
          </a:p>
          <a:p>
            <a:pPr indent="0" lvl="0" marL="0" marR="0" rtl="0" algn="l">
              <a:spcBef>
                <a:spcPts val="0"/>
              </a:spcBef>
              <a:spcAft>
                <a:spcPts val="0"/>
              </a:spcAft>
              <a:buNone/>
            </a:pPr>
            <a:r>
              <a:rPr lang="en-US" sz="2000">
                <a:solidFill>
                  <a:schemeClr val="dk1"/>
                </a:solidFill>
                <a:highlight>
                  <a:schemeClr val="lt1"/>
                </a:highlight>
                <a:latin typeface="Calibri"/>
                <a:ea typeface="Calibri"/>
                <a:cs typeface="Calibri"/>
                <a:sym typeface="Calibri"/>
              </a:rPr>
              <a:t>3. Installation of Virtual box machine with Windows 10 inside VM machine</a:t>
            </a:r>
            <a:endParaRPr>
              <a:solidFill>
                <a:schemeClr val="dk1"/>
              </a:solidFill>
              <a:highlight>
                <a:schemeClr val="lt1"/>
              </a:highlight>
            </a:endParaRPr>
          </a:p>
          <a:p>
            <a:pPr indent="0" lvl="0" marL="0" marR="0" rtl="0" algn="l">
              <a:spcBef>
                <a:spcPts val="0"/>
              </a:spcBef>
              <a:spcAft>
                <a:spcPts val="0"/>
              </a:spcAft>
              <a:buNone/>
            </a:pPr>
            <a:r>
              <a:rPr lang="en-US" sz="2000">
                <a:solidFill>
                  <a:schemeClr val="dk1"/>
                </a:solidFill>
                <a:highlight>
                  <a:schemeClr val="lt1"/>
                </a:highlight>
                <a:latin typeface="Calibri"/>
                <a:ea typeface="Calibri"/>
                <a:cs typeface="Calibri"/>
                <a:sym typeface="Calibri"/>
              </a:rPr>
              <a:t>4. Installation of Volatility</a:t>
            </a:r>
            <a:endParaRPr>
              <a:solidFill>
                <a:schemeClr val="dk1"/>
              </a:solidFill>
              <a:highlight>
                <a:schemeClr val="lt1"/>
              </a:highlight>
            </a:endParaRPr>
          </a:p>
          <a:p>
            <a:pPr indent="0" lvl="0" marL="0" marR="0" rtl="0" algn="l">
              <a:spcBef>
                <a:spcPts val="0"/>
              </a:spcBef>
              <a:spcAft>
                <a:spcPts val="0"/>
              </a:spcAft>
              <a:buNone/>
            </a:pPr>
            <a:r>
              <a:rPr lang="en-US" sz="2000">
                <a:solidFill>
                  <a:schemeClr val="dk1"/>
                </a:solidFill>
                <a:highlight>
                  <a:schemeClr val="lt1"/>
                </a:highlight>
                <a:latin typeface="Calibri"/>
                <a:ea typeface="Calibri"/>
                <a:cs typeface="Calibri"/>
                <a:sym typeface="Calibri"/>
              </a:rPr>
              <a:t>5. Installation of Virtual box Ubuntu Server with Inetsim  </a:t>
            </a:r>
            <a:endParaRPr sz="2000">
              <a:solidFill>
                <a:schemeClr val="dk1"/>
              </a:solidFill>
              <a:highlight>
                <a:schemeClr val="lt1"/>
              </a:highlight>
              <a:latin typeface="Calibri"/>
              <a:ea typeface="Calibri"/>
              <a:cs typeface="Calibri"/>
              <a:sym typeface="Calibri"/>
            </a:endParaRPr>
          </a:p>
        </p:txBody>
      </p:sp>
      <p:sp>
        <p:nvSpPr>
          <p:cNvPr id="119" name="Google Shape;119;p5"/>
          <p:cNvSpPr txBox="1"/>
          <p:nvPr/>
        </p:nvSpPr>
        <p:spPr>
          <a:xfrm>
            <a:off x="4147868" y="820924"/>
            <a:ext cx="457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a:t>
            </a:r>
            <a:endParaRPr sz="36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 name="Shape 123"/>
        <p:cNvGrpSpPr/>
        <p:nvPr/>
      </p:nvGrpSpPr>
      <p:grpSpPr>
        <a:xfrm>
          <a:off x="0" y="0"/>
          <a:ext cx="0" cy="0"/>
          <a:chOff x="0" y="0"/>
          <a:chExt cx="0" cy="0"/>
        </a:xfrm>
      </p:grpSpPr>
      <p:pic>
        <p:nvPicPr>
          <p:cNvPr descr="C:\Users\vedaa\Downloads\Lab Setup (1).jpeg" id="124" name="Google Shape;124;p6"/>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7"/>
          <p:cNvSpPr txBox="1"/>
          <p:nvPr/>
        </p:nvSpPr>
        <p:spPr>
          <a:xfrm>
            <a:off x="76200" y="152400"/>
            <a:ext cx="8991600"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0000"/>
              </a:buClr>
              <a:buSzPts val="4000"/>
              <a:buFont typeface="Calibri"/>
              <a:buNone/>
            </a:pPr>
            <a:r>
              <a:rPr b="1" lang="en-US" sz="4000">
                <a:solidFill>
                  <a:schemeClr val="dk1"/>
                </a:solidFill>
                <a:latin typeface="Calibri"/>
                <a:ea typeface="Calibri"/>
                <a:cs typeface="Calibri"/>
                <a:sym typeface="Calibri"/>
              </a:rPr>
              <a:t>LIVE MALWARE SAMPLES COLLECTION</a:t>
            </a:r>
            <a:endParaRPr>
              <a:solidFill>
                <a:schemeClr val="dk1"/>
              </a:solidFill>
            </a:endParaRPr>
          </a:p>
        </p:txBody>
      </p:sp>
      <p:sp>
        <p:nvSpPr>
          <p:cNvPr id="130" name="Google Shape;130;p7"/>
          <p:cNvSpPr txBox="1"/>
          <p:nvPr/>
        </p:nvSpPr>
        <p:spPr>
          <a:xfrm>
            <a:off x="51758" y="1143000"/>
            <a:ext cx="9067800"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To create a dataset, malware samples were needed. To collect malwares various public repositories were utilized.  </a:t>
            </a:r>
            <a:endParaRPr sz="2400">
              <a:solidFill>
                <a:schemeClr val="dk1"/>
              </a:solidFill>
              <a:latin typeface="Calibri"/>
              <a:ea typeface="Calibri"/>
              <a:cs typeface="Calibri"/>
              <a:sym typeface="Calibri"/>
            </a:endParaRPr>
          </a:p>
        </p:txBody>
      </p:sp>
      <p:sp>
        <p:nvSpPr>
          <p:cNvPr id="131" name="Google Shape;131;p7"/>
          <p:cNvSpPr txBox="1"/>
          <p:nvPr/>
        </p:nvSpPr>
        <p:spPr>
          <a:xfrm>
            <a:off x="76200" y="2514600"/>
            <a:ext cx="8872200" cy="1200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The focus was to mainly to collect malware executable of known type(such as Ransomware, Trojans etc.) to create a much more focused dataset.</a:t>
            </a:r>
            <a:endParaRPr sz="2400">
              <a:solidFill>
                <a:schemeClr val="dk1"/>
              </a:solidFill>
              <a:latin typeface="Calibri"/>
              <a:ea typeface="Calibri"/>
              <a:cs typeface="Calibri"/>
              <a:sym typeface="Calibri"/>
            </a:endParaRPr>
          </a:p>
        </p:txBody>
      </p:sp>
      <p:sp>
        <p:nvSpPr>
          <p:cNvPr id="132" name="Google Shape;132;p7"/>
          <p:cNvSpPr txBox="1"/>
          <p:nvPr/>
        </p:nvSpPr>
        <p:spPr>
          <a:xfrm>
            <a:off x="98485" y="5257800"/>
            <a:ext cx="8991600" cy="1200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The malwares also needed to be executed prior to analysis to ensure they were correct. Also they had to be verified from public domain websites such as Virus Total, etc.</a:t>
            </a:r>
            <a:endParaRPr sz="2400">
              <a:solidFill>
                <a:schemeClr val="dk1"/>
              </a:solidFill>
              <a:latin typeface="Calibri"/>
              <a:ea typeface="Calibri"/>
              <a:cs typeface="Calibri"/>
              <a:sym typeface="Calibri"/>
            </a:endParaRPr>
          </a:p>
        </p:txBody>
      </p:sp>
      <p:sp>
        <p:nvSpPr>
          <p:cNvPr id="133" name="Google Shape;133;p7"/>
          <p:cNvSpPr/>
          <p:nvPr/>
        </p:nvSpPr>
        <p:spPr>
          <a:xfrm>
            <a:off x="135866" y="3962400"/>
            <a:ext cx="8872268"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It was also needed to be kept in mind that malwares need to be OS compatible, as our analysis used a 64-bit Windows OS</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8"/>
          <p:cNvSpPr txBox="1"/>
          <p:nvPr/>
        </p:nvSpPr>
        <p:spPr>
          <a:xfrm>
            <a:off x="76200" y="152400"/>
            <a:ext cx="8915400"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0000"/>
              </a:buClr>
              <a:buSzPts val="3600"/>
              <a:buFont typeface="Calibri"/>
              <a:buNone/>
            </a:pPr>
            <a:r>
              <a:rPr lang="en-US" sz="3600">
                <a:solidFill>
                  <a:schemeClr val="dk1"/>
                </a:solidFill>
                <a:latin typeface="Calibri"/>
                <a:ea typeface="Calibri"/>
                <a:cs typeface="Calibri"/>
                <a:sym typeface="Calibri"/>
              </a:rPr>
              <a:t>CREATING MEMORY DUMPS</a:t>
            </a:r>
            <a:endParaRPr sz="3600">
              <a:solidFill>
                <a:schemeClr val="dk1"/>
              </a:solidFill>
              <a:latin typeface="Calibri"/>
              <a:ea typeface="Calibri"/>
              <a:cs typeface="Calibri"/>
              <a:sym typeface="Calibri"/>
            </a:endParaRPr>
          </a:p>
        </p:txBody>
      </p:sp>
      <p:sp>
        <p:nvSpPr>
          <p:cNvPr id="139" name="Google Shape;139;p8"/>
          <p:cNvSpPr/>
          <p:nvPr/>
        </p:nvSpPr>
        <p:spPr>
          <a:xfrm>
            <a:off x="3375085" y="1809480"/>
            <a:ext cx="5715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VBoxManage debugvm &lt;Virtual Machine name&gt; dumpvmcore --filename=&lt;filename&gt;.elf</a:t>
            </a:r>
            <a:endParaRPr b="1" sz="2400">
              <a:solidFill>
                <a:schemeClr val="dk1"/>
              </a:solidFill>
              <a:latin typeface="Calibri"/>
              <a:ea typeface="Calibri"/>
              <a:cs typeface="Calibri"/>
              <a:sym typeface="Calibri"/>
            </a:endParaRPr>
          </a:p>
        </p:txBody>
      </p:sp>
      <p:sp>
        <p:nvSpPr>
          <p:cNvPr id="140" name="Google Shape;140;p8"/>
          <p:cNvSpPr txBox="1"/>
          <p:nvPr/>
        </p:nvSpPr>
        <p:spPr>
          <a:xfrm>
            <a:off x="46008" y="1892855"/>
            <a:ext cx="2849592"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COMMAND USED TO CREATE A DUMP:</a:t>
            </a:r>
            <a:endParaRPr b="1" sz="2400">
              <a:solidFill>
                <a:schemeClr val="dk1"/>
              </a:solidFill>
              <a:latin typeface="Calibri"/>
              <a:ea typeface="Calibri"/>
              <a:cs typeface="Calibri"/>
              <a:sym typeface="Calibri"/>
            </a:endParaRPr>
          </a:p>
        </p:txBody>
      </p:sp>
      <p:sp>
        <p:nvSpPr>
          <p:cNvPr id="141" name="Google Shape;141;p8"/>
          <p:cNvSpPr txBox="1"/>
          <p:nvPr/>
        </p:nvSpPr>
        <p:spPr>
          <a:xfrm>
            <a:off x="46008" y="5049975"/>
            <a:ext cx="30723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CREATING A RAM DUMP USING VOLATILITY:- </a:t>
            </a:r>
            <a:endParaRPr b="1" sz="2400">
              <a:solidFill>
                <a:schemeClr val="dk1"/>
              </a:solidFill>
              <a:latin typeface="Calibri"/>
              <a:ea typeface="Calibri"/>
              <a:cs typeface="Calibri"/>
              <a:sym typeface="Calibri"/>
            </a:endParaRPr>
          </a:p>
        </p:txBody>
      </p:sp>
      <p:sp>
        <p:nvSpPr>
          <p:cNvPr id="142" name="Google Shape;142;p8"/>
          <p:cNvSpPr/>
          <p:nvPr/>
        </p:nvSpPr>
        <p:spPr>
          <a:xfrm>
            <a:off x="3375075" y="5050113"/>
            <a:ext cx="5715000" cy="12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300">
                <a:solidFill>
                  <a:schemeClr val="dk1"/>
                </a:solidFill>
                <a:latin typeface="Calibri"/>
                <a:ea typeface="Calibri"/>
                <a:cs typeface="Calibri"/>
                <a:sym typeface="Calibri"/>
              </a:rPr>
              <a:t>subprocess.run('vol.py -f ' + sub_dir[z] + '/' + file_name[z] + '  imagecopy -O ./' + file_name[z].split('.')[0] + '.raw', shell=True)</a:t>
            </a:r>
            <a:endParaRPr b="1" sz="2300">
              <a:solidFill>
                <a:schemeClr val="dk1"/>
              </a:solidFill>
              <a:latin typeface="Calibri"/>
              <a:ea typeface="Calibri"/>
              <a:cs typeface="Calibri"/>
              <a:sym typeface="Calibri"/>
            </a:endParaRPr>
          </a:p>
        </p:txBody>
      </p:sp>
      <p:sp>
        <p:nvSpPr>
          <p:cNvPr id="143" name="Google Shape;143;p8"/>
          <p:cNvSpPr txBox="1"/>
          <p:nvPr/>
        </p:nvSpPr>
        <p:spPr>
          <a:xfrm>
            <a:off x="3546225" y="3173375"/>
            <a:ext cx="4982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vol.py -f &lt;path_to_memory_dump&gt; --profile=Win10x64_18362 yarascan -y ./malware_rules.yar --output=text --output-file=./scans/yarascan/&lt;analysis_type&gt;/&lt;filename&gt;_yarascan_complete.txt</a:t>
            </a:r>
            <a:endParaRPr b="1"/>
          </a:p>
          <a:p>
            <a:pPr indent="0" lvl="0" marL="0" rtl="0" algn="l">
              <a:spcBef>
                <a:spcPts val="0"/>
              </a:spcBef>
              <a:spcAft>
                <a:spcPts val="0"/>
              </a:spcAft>
              <a:buNone/>
            </a:pPr>
            <a:r>
              <a:t/>
            </a:r>
            <a:endParaRPr b="1"/>
          </a:p>
        </p:txBody>
      </p:sp>
      <p:sp>
        <p:nvSpPr>
          <p:cNvPr id="144" name="Google Shape;144;p8"/>
          <p:cNvSpPr txBox="1"/>
          <p:nvPr/>
        </p:nvSpPr>
        <p:spPr>
          <a:xfrm>
            <a:off x="76208" y="3429000"/>
            <a:ext cx="30723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VOLATILITY SCAN DUMP: </a:t>
            </a:r>
            <a:endParaRPr b="1" sz="2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9"/>
          <p:cNvSpPr/>
          <p:nvPr/>
        </p:nvSpPr>
        <p:spPr>
          <a:xfrm>
            <a:off x="2434032" y="43934"/>
            <a:ext cx="37768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MEMORY</a:t>
            </a:r>
            <a:r>
              <a:rPr lang="en-US" sz="1800">
                <a:solidFill>
                  <a:schemeClr val="dk1"/>
                </a:solidFill>
                <a:latin typeface="Calibri"/>
                <a:ea typeface="Calibri"/>
                <a:cs typeface="Calibri"/>
                <a:sym typeface="Calibri"/>
              </a:rPr>
              <a:t> </a:t>
            </a:r>
            <a:r>
              <a:rPr lang="en-US" sz="3600">
                <a:solidFill>
                  <a:schemeClr val="dk1"/>
                </a:solidFill>
                <a:latin typeface="Calibri"/>
                <a:ea typeface="Calibri"/>
                <a:cs typeface="Calibri"/>
                <a:sym typeface="Calibri"/>
              </a:rPr>
              <a:t>ANALYSIS</a:t>
            </a:r>
            <a:endParaRPr>
              <a:solidFill>
                <a:schemeClr val="dk1"/>
              </a:solidFill>
            </a:endParaRPr>
          </a:p>
        </p:txBody>
      </p:sp>
      <p:pic>
        <p:nvPicPr>
          <p:cNvPr id="150" name="Google Shape;150;p9"/>
          <p:cNvPicPr preferRelativeResize="0"/>
          <p:nvPr/>
        </p:nvPicPr>
        <p:blipFill rotWithShape="1">
          <a:blip r:embed="rId3">
            <a:alphaModFix/>
          </a:blip>
          <a:srcRect b="0" l="0" r="0" t="0"/>
          <a:stretch/>
        </p:blipFill>
        <p:spPr>
          <a:xfrm>
            <a:off x="0" y="3822700"/>
            <a:ext cx="4699635" cy="1739900"/>
          </a:xfrm>
          <a:prstGeom prst="rect">
            <a:avLst/>
          </a:prstGeom>
          <a:noFill/>
          <a:ln>
            <a:noFill/>
          </a:ln>
        </p:spPr>
      </p:pic>
      <p:sp>
        <p:nvSpPr>
          <p:cNvPr id="151" name="Google Shape;151;p9"/>
          <p:cNvSpPr/>
          <p:nvPr/>
        </p:nvSpPr>
        <p:spPr>
          <a:xfrm>
            <a:off x="25879" y="5562600"/>
            <a:ext cx="462232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 Identifying Build profile of the Memory Dump with imageinfo</a:t>
            </a:r>
            <a:endParaRPr sz="1800">
              <a:solidFill>
                <a:schemeClr val="lt1"/>
              </a:solidFill>
              <a:latin typeface="Calibri"/>
              <a:ea typeface="Calibri"/>
              <a:cs typeface="Calibri"/>
              <a:sym typeface="Calibri"/>
            </a:endParaRPr>
          </a:p>
        </p:txBody>
      </p:sp>
      <p:pic>
        <p:nvPicPr>
          <p:cNvPr id="152" name="Google Shape;152;p9"/>
          <p:cNvPicPr preferRelativeResize="0"/>
          <p:nvPr/>
        </p:nvPicPr>
        <p:blipFill rotWithShape="1">
          <a:blip r:embed="rId4">
            <a:alphaModFix/>
          </a:blip>
          <a:srcRect b="0" l="0" r="0" t="0"/>
          <a:stretch/>
        </p:blipFill>
        <p:spPr>
          <a:xfrm>
            <a:off x="4699635" y="690265"/>
            <a:ext cx="4444365" cy="5512628"/>
          </a:xfrm>
          <a:prstGeom prst="rect">
            <a:avLst/>
          </a:prstGeom>
          <a:noFill/>
          <a:ln>
            <a:noFill/>
          </a:ln>
        </p:spPr>
      </p:pic>
      <p:sp>
        <p:nvSpPr>
          <p:cNvPr id="153" name="Google Shape;153;p9"/>
          <p:cNvSpPr/>
          <p:nvPr/>
        </p:nvSpPr>
        <p:spPr>
          <a:xfrm>
            <a:off x="4501551" y="6208931"/>
            <a:ext cx="462232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Yarascan Result using Volatility</a:t>
            </a:r>
            <a:endParaRPr/>
          </a:p>
        </p:txBody>
      </p:sp>
      <p:sp>
        <p:nvSpPr>
          <p:cNvPr id="154" name="Google Shape;154;p9"/>
          <p:cNvSpPr/>
          <p:nvPr/>
        </p:nvSpPr>
        <p:spPr>
          <a:xfrm>
            <a:off x="51039" y="1066800"/>
            <a:ext cx="457200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To analyze memory dumps use of Volatility (memory forensics tool) is required. It is used to extract all crucial information about the systems. In our project, the following commands were used to analyze memory:</a:t>
            </a:r>
            <a:endParaRPr>
              <a:solidFill>
                <a:schemeClr val="dk1"/>
              </a:solidFill>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imageinfo</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pslist, pscan</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yarascan</a:t>
            </a:r>
            <a:endParaRPr sz="1800">
              <a:solidFill>
                <a:schemeClr val="dk1"/>
              </a:solidFill>
              <a:latin typeface="Calibri"/>
              <a:ea typeface="Calibri"/>
              <a:cs typeface="Calibri"/>
              <a:sym typeface="Calibri"/>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10"/>
          <p:cNvSpPr txBox="1"/>
          <p:nvPr/>
        </p:nvSpPr>
        <p:spPr>
          <a:xfrm>
            <a:off x="76200" y="152400"/>
            <a:ext cx="4300268"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3600"/>
              <a:buFont typeface="Calibri"/>
              <a:buNone/>
            </a:pPr>
            <a:r>
              <a:t/>
            </a:r>
            <a:endParaRPr sz="3600">
              <a:solidFill>
                <a:srgbClr val="FF0000"/>
              </a:solidFill>
              <a:latin typeface="Calibri"/>
              <a:ea typeface="Calibri"/>
              <a:cs typeface="Calibri"/>
              <a:sym typeface="Calibri"/>
            </a:endParaRPr>
          </a:p>
        </p:txBody>
      </p:sp>
      <p:pic>
        <p:nvPicPr>
          <p:cNvPr descr="C:\Users\vedaa\Downloads\YARA_SIGNATURES_DATASET (1).jpeg" id="160" name="Google Shape;160;p10"/>
          <p:cNvPicPr preferRelativeResize="0"/>
          <p:nvPr/>
        </p:nvPicPr>
        <p:blipFill rotWithShape="1">
          <a:blip r:embed="rId3">
            <a:alphaModFix/>
          </a:blip>
          <a:srcRect b="0" l="0" r="0" t="0"/>
          <a:stretch/>
        </p:blipFill>
        <p:spPr>
          <a:xfrm>
            <a:off x="0" y="1"/>
            <a:ext cx="9144000"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11"/>
          <p:cNvSpPr txBox="1"/>
          <p:nvPr/>
        </p:nvSpPr>
        <p:spPr>
          <a:xfrm>
            <a:off x="76200" y="152400"/>
            <a:ext cx="8991600"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0000"/>
              </a:buClr>
              <a:buSzPts val="4000"/>
              <a:buFont typeface="Calibri"/>
              <a:buNone/>
            </a:pPr>
            <a:r>
              <a:rPr b="1" lang="en-US" sz="3000">
                <a:solidFill>
                  <a:schemeClr val="dk1"/>
                </a:solidFill>
                <a:highlight>
                  <a:schemeClr val="lt1"/>
                </a:highlight>
                <a:latin typeface="Calibri"/>
                <a:ea typeface="Calibri"/>
                <a:cs typeface="Calibri"/>
                <a:sym typeface="Calibri"/>
              </a:rPr>
              <a:t>USING MACHINE LEARNING AND DEEP LEARNING TECHNIQUES</a:t>
            </a:r>
            <a:endParaRPr sz="3000">
              <a:solidFill>
                <a:schemeClr val="dk1"/>
              </a:solidFill>
              <a:highlight>
                <a:schemeClr val="lt1"/>
              </a:highlight>
            </a:endParaRPr>
          </a:p>
        </p:txBody>
      </p:sp>
      <p:pic>
        <p:nvPicPr>
          <p:cNvPr id="166" name="Google Shape;166;p11"/>
          <p:cNvPicPr preferRelativeResize="0"/>
          <p:nvPr/>
        </p:nvPicPr>
        <p:blipFill rotWithShape="1">
          <a:blip r:embed="rId3">
            <a:alphaModFix/>
          </a:blip>
          <a:srcRect b="0" l="0" r="0" t="0"/>
          <a:stretch/>
        </p:blipFill>
        <p:spPr>
          <a:xfrm>
            <a:off x="-38819" y="2898475"/>
            <a:ext cx="4823603" cy="3505200"/>
          </a:xfrm>
          <a:prstGeom prst="rect">
            <a:avLst/>
          </a:prstGeom>
          <a:noFill/>
          <a:ln>
            <a:noFill/>
          </a:ln>
        </p:spPr>
      </p:pic>
      <p:sp>
        <p:nvSpPr>
          <p:cNvPr id="167" name="Google Shape;167;p11"/>
          <p:cNvSpPr txBox="1"/>
          <p:nvPr/>
        </p:nvSpPr>
        <p:spPr>
          <a:xfrm>
            <a:off x="17253" y="6400800"/>
            <a:ext cx="44958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Screenshot of Dataset</a:t>
            </a:r>
            <a:endParaRPr sz="1800">
              <a:solidFill>
                <a:schemeClr val="lt1"/>
              </a:solidFill>
              <a:latin typeface="Calibri"/>
              <a:ea typeface="Calibri"/>
              <a:cs typeface="Calibri"/>
              <a:sym typeface="Calibri"/>
            </a:endParaRPr>
          </a:p>
        </p:txBody>
      </p:sp>
      <p:sp>
        <p:nvSpPr>
          <p:cNvPr id="168" name="Google Shape;168;p11"/>
          <p:cNvSpPr/>
          <p:nvPr/>
        </p:nvSpPr>
        <p:spPr>
          <a:xfrm>
            <a:off x="1438" y="1447800"/>
            <a:ext cx="4783346"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After extracting the memory values, from RAM and matching them with pre existing signatures of YARA Rules, the dataset was as follow:</a:t>
            </a:r>
            <a:endParaRPr sz="2000">
              <a:solidFill>
                <a:schemeClr val="dk1"/>
              </a:solidFill>
              <a:latin typeface="Calibri"/>
              <a:ea typeface="Calibri"/>
              <a:cs typeface="Calibri"/>
              <a:sym typeface="Calibri"/>
            </a:endParaRPr>
          </a:p>
        </p:txBody>
      </p:sp>
      <p:pic>
        <p:nvPicPr>
          <p:cNvPr id="169" name="Google Shape;169;p11"/>
          <p:cNvPicPr preferRelativeResize="0"/>
          <p:nvPr/>
        </p:nvPicPr>
        <p:blipFill rotWithShape="1">
          <a:blip r:embed="rId4">
            <a:alphaModFix/>
          </a:blip>
          <a:srcRect b="0" l="0" r="0" t="0"/>
          <a:stretch/>
        </p:blipFill>
        <p:spPr>
          <a:xfrm>
            <a:off x="4803475" y="1676400"/>
            <a:ext cx="4343400" cy="4536359"/>
          </a:xfrm>
          <a:prstGeom prst="rect">
            <a:avLst/>
          </a:prstGeom>
          <a:noFill/>
          <a:ln>
            <a:noFill/>
          </a:ln>
        </p:spPr>
      </p:pic>
      <p:sp>
        <p:nvSpPr>
          <p:cNvPr id="170" name="Google Shape;170;p11"/>
          <p:cNvSpPr txBox="1"/>
          <p:nvPr/>
        </p:nvSpPr>
        <p:spPr>
          <a:xfrm>
            <a:off x="4619445" y="6346166"/>
            <a:ext cx="4495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YARA Rules Signatures match</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pic>
        <p:nvPicPr>
          <p:cNvPr id="175" name="Google Shape;175;p12"/>
          <p:cNvPicPr preferRelativeResize="0"/>
          <p:nvPr/>
        </p:nvPicPr>
        <p:blipFill rotWithShape="1">
          <a:blip r:embed="rId3">
            <a:alphaModFix/>
          </a:blip>
          <a:srcRect b="0" l="0" r="0" t="0"/>
          <a:stretch/>
        </p:blipFill>
        <p:spPr>
          <a:xfrm>
            <a:off x="2" y="0"/>
            <a:ext cx="4534791" cy="3505200"/>
          </a:xfrm>
          <a:prstGeom prst="rect">
            <a:avLst/>
          </a:prstGeom>
          <a:noFill/>
          <a:ln>
            <a:noFill/>
          </a:ln>
        </p:spPr>
      </p:pic>
      <p:pic>
        <p:nvPicPr>
          <p:cNvPr id="176" name="Google Shape;176;p12"/>
          <p:cNvPicPr preferRelativeResize="0"/>
          <p:nvPr/>
        </p:nvPicPr>
        <p:blipFill rotWithShape="1">
          <a:blip r:embed="rId4">
            <a:alphaModFix/>
          </a:blip>
          <a:srcRect b="0" l="0" r="0" t="0"/>
          <a:stretch/>
        </p:blipFill>
        <p:spPr>
          <a:xfrm>
            <a:off x="4534793" y="1"/>
            <a:ext cx="4609207" cy="3505200"/>
          </a:xfrm>
          <a:prstGeom prst="rect">
            <a:avLst/>
          </a:prstGeom>
          <a:noFill/>
          <a:ln>
            <a:noFill/>
          </a:ln>
        </p:spPr>
      </p:pic>
      <p:pic>
        <p:nvPicPr>
          <p:cNvPr id="177" name="Google Shape;177;p12"/>
          <p:cNvPicPr preferRelativeResize="0"/>
          <p:nvPr/>
        </p:nvPicPr>
        <p:blipFill rotWithShape="1">
          <a:blip r:embed="rId5">
            <a:alphaModFix/>
          </a:blip>
          <a:srcRect b="0" l="0" r="0" t="0"/>
          <a:stretch/>
        </p:blipFill>
        <p:spPr>
          <a:xfrm>
            <a:off x="1752600" y="3505201"/>
            <a:ext cx="5714998" cy="3352799"/>
          </a:xfrm>
          <a:prstGeom prst="rect">
            <a:avLst/>
          </a:prstGeom>
          <a:noFill/>
          <a:ln>
            <a:noFill/>
          </a:ln>
        </p:spPr>
      </p:pic>
      <p:sp>
        <p:nvSpPr>
          <p:cNvPr id="178" name="Google Shape;178;p12"/>
          <p:cNvSpPr txBox="1"/>
          <p:nvPr/>
        </p:nvSpPr>
        <p:spPr>
          <a:xfrm>
            <a:off x="-30190" y="3962400"/>
            <a:ext cx="178279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Screenshot of PCA Analysis</a:t>
            </a:r>
            <a:endParaRPr sz="1800">
              <a:solidFill>
                <a:schemeClr val="lt1"/>
              </a:solidFill>
              <a:latin typeface="Calibri"/>
              <a:ea typeface="Calibri"/>
              <a:cs typeface="Calibri"/>
              <a:sym typeface="Calibri"/>
            </a:endParaRPr>
          </a:p>
        </p:txBody>
      </p:sp>
      <p:sp>
        <p:nvSpPr>
          <p:cNvPr id="179" name="Google Shape;179;p12"/>
          <p:cNvSpPr txBox="1"/>
          <p:nvPr/>
        </p:nvSpPr>
        <p:spPr>
          <a:xfrm>
            <a:off x="7467598" y="3858608"/>
            <a:ext cx="1676402"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Screenshot of TSNE Analysis</a:t>
            </a:r>
            <a:endParaRPr sz="1800">
              <a:solidFill>
                <a:schemeClr val="lt1"/>
              </a:solidFill>
              <a:latin typeface="Calibri"/>
              <a:ea typeface="Calibri"/>
              <a:cs typeface="Calibri"/>
              <a:sym typeface="Calibri"/>
            </a:endParaRPr>
          </a:p>
        </p:txBody>
      </p:sp>
      <p:sp>
        <p:nvSpPr>
          <p:cNvPr id="180" name="Google Shape;180;p12"/>
          <p:cNvSpPr txBox="1"/>
          <p:nvPr/>
        </p:nvSpPr>
        <p:spPr>
          <a:xfrm>
            <a:off x="-155273" y="5638800"/>
            <a:ext cx="151249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Count Plot of final dataset</a:t>
            </a:r>
            <a:endParaRPr sz="1800">
              <a:solidFill>
                <a:schemeClr val="lt1"/>
              </a:solidFill>
              <a:latin typeface="Calibri"/>
              <a:ea typeface="Calibri"/>
              <a:cs typeface="Calibri"/>
              <a:sym typeface="Calibri"/>
            </a:endParaRPr>
          </a:p>
        </p:txBody>
      </p:sp>
      <p:sp>
        <p:nvSpPr>
          <p:cNvPr id="181" name="Google Shape;181;p12"/>
          <p:cNvSpPr/>
          <p:nvPr/>
        </p:nvSpPr>
        <p:spPr>
          <a:xfrm rot="10800000">
            <a:off x="756251" y="3581400"/>
            <a:ext cx="310549" cy="381000"/>
          </a:xfrm>
          <a:prstGeom prst="downArrow">
            <a:avLst>
              <a:gd fmla="val 50000" name="adj1"/>
              <a:gd fmla="val 5000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12"/>
          <p:cNvSpPr/>
          <p:nvPr/>
        </p:nvSpPr>
        <p:spPr>
          <a:xfrm rot="10800000">
            <a:off x="8150524" y="3543300"/>
            <a:ext cx="310549" cy="381000"/>
          </a:xfrm>
          <a:prstGeom prst="downArrow">
            <a:avLst>
              <a:gd fmla="val 50000" name="adj1"/>
              <a:gd fmla="val 5000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3" name="Google Shape;183;p12"/>
          <p:cNvSpPr/>
          <p:nvPr/>
        </p:nvSpPr>
        <p:spPr>
          <a:xfrm rot="-5400000">
            <a:off x="1357225" y="5867400"/>
            <a:ext cx="310549" cy="381000"/>
          </a:xfrm>
          <a:prstGeom prst="downArrow">
            <a:avLst>
              <a:gd fmla="val 50000" name="adj1"/>
              <a:gd fmla="val 5000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13"/>
          <p:cNvSpPr txBox="1"/>
          <p:nvPr/>
        </p:nvSpPr>
        <p:spPr>
          <a:xfrm>
            <a:off x="27316" y="7937"/>
            <a:ext cx="9116684"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0000"/>
              </a:buClr>
              <a:buSzPts val="3800"/>
              <a:buFont typeface="Calibri"/>
              <a:buNone/>
            </a:pPr>
            <a:r>
              <a:rPr b="1" lang="en-US" sz="3800">
                <a:solidFill>
                  <a:schemeClr val="dk1"/>
                </a:solidFill>
                <a:latin typeface="Calibri"/>
                <a:ea typeface="Calibri"/>
                <a:cs typeface="Calibri"/>
                <a:sym typeface="Calibri"/>
              </a:rPr>
              <a:t>CONCLUSION-1</a:t>
            </a:r>
            <a:endParaRPr b="1" sz="3800">
              <a:solidFill>
                <a:schemeClr val="dk1"/>
              </a:solidFill>
              <a:latin typeface="Calibri"/>
              <a:ea typeface="Calibri"/>
              <a:cs typeface="Calibri"/>
              <a:sym typeface="Calibri"/>
            </a:endParaRPr>
          </a:p>
        </p:txBody>
      </p:sp>
      <p:sp>
        <p:nvSpPr>
          <p:cNvPr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id="189" name="Google Shape;189;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id="190" name="Google Shape;190;p13"/>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id="191" name="Google Shape;191;p13"/>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id="192" name="Google Shape;192;p13"/>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png;base64,iVBORw0KGgoAAAANSUhEUgAAAWAAAAFgCAYAAACFYaNMAAAABHNCSVQICAgIfAhkiAAAAAlwSFlzAAALEgAACxIB0t1+/AAAADh0RVh0U29mdHdhcmUAbWF0cGxvdGxpYiB2ZXJzaW9uMy4yLjEsIGh0dHA6Ly9tYXRwbG90bGliLm9yZy+j8jraAAAWqElEQVR4nO3de5RlZX3m8e9jNyjKLULH4SoMQZL2EpQeAsEEEpi1GiIwK6LSowaQCeOsAZKgzjCjgx3MjKIRs0QSQ5YEZFRATZw2w2VcCuqgKI20XAfSQRSYTGyQgCBy/c0fe5cciurq0+na9VZXfT9r1aq93/2efX51TvXTb+3Le1JVSJJm3/NaFyBJC5UBLEmNGMCS1IgBLEmNGMCS1Mji1gVsrOXLl9cVV1zRugxJ2hiZqnGzGwHfd999rUuQpBmx2QWwJM0XBrAkNWIAS1IjBrAkNWIAS1IjBrAkNWIAS1IjBrAkNWIAS1IjBrAkNWIAS1IjBrAkNWIAS1Ijm910lJJmxkHnHNS6hM3eNadcs0mPdwQsSY0YwJLUiAEsSY0YwJLUiAEsSY0YwJLUiAEsSY0YwJLUiAEsSY0YwJLUiAEsSY0YwJLUiAEsSY0YwJLUiAEsSY0YwJLUyKABnGR5ktuTrE1y+hTbd09yVZIbktyY5Igh65GkuWSwAE6yCDgXOBxYCqxIsnRSt/cAl1bVq4FjgT8dqh5JmmuGHAHvD6ytqjur6nHgYuDoSX0K2LZf3g74vwPWI0lzypABvAtw98j6PX3bqJXAW5LcA1wGnDLVjpKclGR1ktXr1q0bolZJmnWtT8KtAC6oql2BI4CLkjynpqo6r6qWVdWyJUuWzHqRkjSEIQP4XmC3kfVd+7ZRJwKXAlTVN4EXADsOWJMkzRlDBvB1wN5J9kyyJd1JtlWT+vwAOBQgyS/RBbDHGCQtCIMFcFU9CZwMXAncRne1wy1JzkxyVN/tHcDvJvku8Bng+KqqoWqSpLlk8ZA7r6rL6E6ujbadMbJ8K3DQkDVI0lzV+iScJC1YBrAkNWIAS1IjBrAkNTLoSThp1A/OfGXrEjZru59xU+sSNMMcAUtSIwawJDViAEtSIwawJDViAEtSIwawJDViAEtSIwawJDViAEtSIwawJDViAEtSIwawJDViAEtSIwawJDViAEtSIwawJDViAEtSIwawJDViAEtSIwawJDViAEtSIwawJDViAEtSIwawJDViAEtSI4tbFzCU/d71ydYlbPau/9DvtC5BmtccAUtSIwawJDViAEtSIwawJDViAEtSIwawJDViAEtSIwawJDViAEtSIwawJDViAEtSIwawJDViAEtSIwawJDViAEtSIwawJDViAEtSIwawJDViAEtSIwawJDViAEtSIwawJDViAEtSIwawJDViAEtSIwawJDViAEtSIwawJDUyaAAnWZ7k9iRrk5y+nj5vTHJrkluSfHrIeiRpLlk81I6TLALOBf4lcA9wXZJVVXXrSJ+9gf8EHFRVDyT5+aHqkaS5ZsgR8P7A2qq6s6oeBy4Gjp7U53eBc6vqAYCq+uGA9UjSnDJkAO8C3D2yfk/fNuplwMuSXJPk2iTLp9pRkpOSrE6yet26dQOVK0mzq/VJuMXA3sAhwArgL5JsP7lTVZ1XVcuqatmSJUtmuURJGsaQAXwvsNvI+q5926h7gFVV9URVfQ+4gy6QJWneGzKArwP2TrJnki2BY4FVk/p8gW70S5Id6Q5J3DlgTZI0ZwwWwFX1JHAycCVwG3BpVd2S5MwkR/XdrgTuT3IrcBXwrqq6f6iaJGkuGewyNICqugy4bFLbGSPLBZzWf0nSgtL6JJwkLVgGsCQ1YgBLUiMGsCQ1YgBLUiMGsCQ1YgBLUiMGsCQ1YgBLUiMGsCQ1YgBLUiMGsCQ1YgBLUiMGsCQ1YgBLUiMGsCQ1YgBLUiMGsCQ1YgBLUiMGsCQ1YgBLUiMGsCQ1ssEATvKSJJ9Icnm/vjTJicOXJknz2zgj4AuAK4Gd+/U7gN8fqiBJWijGCeAdq+pS4GmAqnoSeGrQqiRpARgngB9JsgNQAEkOAB4ctCpJWgAWj9HnNGAVsFeSa4AlwDGDViVJC8C0AZxkEXBw/7UPEOD2qnpiFmqTpHlt2kMQVfUUsKKqnqyqW6rqZsNXkmbGOIcgrknyMeAS4JGJxqr6zmBVSdICME4A79t/P3OkrYDfnPlyJGnh2GAAV9VvzEYhkrTQjHMn3HZJzk6yuv/6cJLtZqM4SZrPxrkO+Hzgx8Ab+6+HgL8csihJWgjGOQa8V1W9fmT9D5OsGaogSVooxhkBP5rktRMrSQ4CHh2uJElaGMYZAf874MKR474PAMcPVpEkLRDjXAWxBvjlJNv26w8NXpUkLQDjXAXx35JsX1UPVdVDSX4uyR/NRnGSNJ+Ncwz48Kr6x4mVqnoAOGK4kiRpYRgngBclef7ESpKtgOdP01+SNIZxTsJ9Cvhykolrf08ALhyuJElaGMY5CXdWku8Ch9HNAfG+qrpy8MokaZ4bZwRMVV2R5Drg14H7hi1JkhaG9R4DTvI3SV7RL+8E3Ay8DbgoiR/KKUmbaLqTcHtW1c398gnAl6rqSOBX6IJYkrQJpgvg0U++OBS4DKCqfkz/CcmSpH+66Y4B353kFOAe4DXAFfCzy9C2mIXaJGlem24EfCLwcrp5H940cjPGATgdpSRtsvWOgKvqh8Dbp2i/CrhqyKIkaSEY5044SdIADGBJamSc2dAOGqdNkrRxxhkBnzNmmyRpI6z3JFySA4FfBZYkOW1k07bAoqELk6T5brrrgLcEtu77bDPS/hBwzJBFSdJCMN1laF8Fvprkgqr6PkCS5wFb+7FEkrTpxjkG/P4k2yZ5Ed2EPLcmedfAdUnSvDdOAC/tR7z/Crgc2BN466BVSdICME4Ab5FkC7oAXlVVT9BNzL5BSZYnuT3J2iSnT9Pv9UkqybLxypakzd84AfznwF3Ai4CvJXkp3Ym4aSVZBJwLHA4sBVYkWTpFv22A3wO+NX7ZkrT522AAV9VHq2qXqjqiOt8HfmOMfe8PrK2qO6vqceBi4Ogp+r0POAv46cYULkmbu3HuhHtJkk8kubxfXwocN8a+dwHuHlm/p28b3fdrgN2q6n9uoIaTkqxOsnrdunVjPLUkzX3jHIK4ALgS2LlfvwPY5I8k6i9pOxt4x4b6VtV5VbWsqpYtWbJkU59akuaE6T4TbuIa4R2r6lL6T8GoqieBp8bY973AbiPru/ZtE7YBXgFcneQuunmGV3kiTtJCMd0I+Nv990eS7EB/5UOSA4AHx9j3dcDeSfZMsiVwLLBqYmNVPVhVO1bVHlW1B3AtcFRVrf4n/ByStNmZ7lbk9N9PowvOvZJcAyxhjFuRq+rJJCfTHb5YBJxfVbckORNYXVWrpt+DJM1v0wXw6CQ8f033oZwBHgMOA27c0M6r6rL+caNtZ6yn7yFj1CtJ88Z0AbyIbjKeTGp/4XDlSNLCMV0A/31VnTlrlUjSAjPdSbjJI19J0gyaLoAPnbUqJGkBWm8AV9WPZrMQSVpo/FRk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xgSWrEAJakRgYN4CTLk9yeZG2S06fYflqSW5PcmOTLSV46ZD2SNJcMFsBJFgHnAocDS4EVSZZO6nYDsKyqXgV8DvjgUPVI0lwz5Ah4f2BtVd1ZVY8DFwNHj3aoqquq6if96rXArgPWI0lzypABvAtw98j6PX3b+pwIXD5gPZI0pyxuXQBAkrcAy4CD17P9JOAkgN13330WK5Ok4Qw5Ar4X2G1kfde+7VmSHAa8Gziqqh6bakdVdV5VLauqZUuWLBmkWEmabUMG8HXA3kn2TLIlcCywarRDklcDf04Xvj8csBZJmnMGC+CqehI4GbgSuA24tKpuSXJmkqP6bh8CtgY+m2RNklXr2Z0kzTuDHgOuqsuAyya1nTGyfNiQzy9Jc5l3wkl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ViAEtSIwawJDUyaAAnWZ7k9iRrk5w+xfbnJ7mk3/6tJHsMWY8kzSWDBXCSRcC5wOHAUmBFkqWTup0IPFBVvwB8BDhrqHokaa4ZcgS8P7C2qu6sqseBi4GjJ/U5GriwX/4ccGiSDFiTJM0Ziwfc9y7A3SPr9wC/sr4+VfVkkgeBHYD7RjslOQk4qV99OMntg1Q8u3Zk0s851+SPj2tdwmyb2+/Jexfc2GRuvx9ATh37PbmiqpZPbhwygGdMVZ0HnNe6jpmUZHVVLWtdh57hezK3LIT3Y8hDEPcCu42s79q3TdknyWJgO+D+AWuSpDljyAC+Dtg7yZ5JtgSOBVZN6rMKmPg79xjgK1VVA9YkSXPGYIcg+mO6JwNXAouA86vqliRnAqurahXwCeCiJGuBH9GF9EIxrw6pzBO+J3PLvH8/4oBTktrwTjhJasQAlqRGDOABJHl4ZPmIJHckeWmSlUl+kuTn19O3knx4ZP2dSVbOWuHzWJJ3J7klyY1J1iR5b5L3T+qzb5Lb+uW7knx90vY1SW6ezbpnU5KnJn7GJF9Msv0M7ff4JB+biX1N2u/V/VQHa/qvY2b6Ofrn2SPJvx5i3wbwgJIcCnwUOLyqvt833we8Yz0PeQz47SQ7zkZ9C0WSA4HXAa+pqlcBhwFXAW+a1PVY4DMj69skmbhM8pdmo9bGHq2qfavqFXQnxf9964LG8Oa+5n2r6nPjPKC/5HVj7AEYwJuTJL8O/AXwuqr6u5FN5wNvSvLiKR72JN2Z3z+YhRIXkp2A+6rqMYCquq+qvgY8kGT07sw38uwAvpRnQnrFpG3z3Tfp7lQlyf5JvpnkhiTfSLJP3358kr9KckWSv03ywYkHJzmh/8vv28BBI+17JPlK/5fIl5Ps3rdfkOTPklyb5M4khyQ5P8ltSS4Yt+gkL07yhX7/1yZ5Vd++MslFSa6hu/JqSZLPJ7mu/zqo73fwyIj6hiTbAB8Afq1vm9l/m1Xl1wx/AU/QjSBeNal9JfBO4AzgD/u2h0e2PwxsC9xFd1PKO4GVrX+ezf0L2BpYA9wB/ClwcN/+TuAj/fIBdJdHTjzmLmAf4Bv9+g10k0rd3PrnGfB1erj/vgj4LLC8X98WWNwvHwZ8vl8+Hriz/119AfB9uhurdgJ+ACwBtgSuAT7WP+aLwHH98tuAL/TLF9DNFxO6OWIeAl5JN0i8Hth3inqvBm7v39s1dNMYnAO8t9/+m8Cafnllv5+t+vVPA6/tl3cHbhup76CR35vFwCHA3wzxmjsCHsYTwDfoZnubykeB4/r/XZ+lqh4CPgmcOlx5C0tVPQzsRzefyDrgkiTHA5cAxyR5Hs89/ADdXZkPJDkWuA34yawV3cZWSdYA/w94CfClvn074LP98e+PAC8fecyXq+rBqvopcCvwUro5X66uqnXVTcR1yUj/A+nCD+Ai4LUj275YXfLdBPxDVd1UVU8Dt9AdBpjK6CGI+/v9XQRQVV8Bdkiybd93VVU92i8fBnys/3lXAdsm2ZruP4uzk5wKbF9VT27wVdsEBvAwnqb7c3b/JP958saq+ke6X8L1HWP7E7rwftFgFS4wVfVUVV1dVe8FTgZeX1V3A98DDgZez7ODYsIldNOqLoTDD49W1b50IRqe+f18H3BVdceGj6Qb7U54bGT5KTbt5q6JfT09ab9Pb+J+Jzwysvw84ICR8N6lqh6uqg8A/wbYCrgmyS/OwPOulwE8kKr6CfBbwJuTTDUSPhv4t0zxi1VVP6I7/ri+EbQ2QpJ9kuw90rQv3Z/L0AXrR4A7q+qeKR7+18AH6e7oXBD6391TgXeMzNEyMY/L8WPs4lvAwUl2SLIF8IaRbd/gmTte3wx8ffKDN9HX+/2S5BC6Y/8PTdHvfwGnTKwk2bf/vlc/8j6LbjqFXwR+DDznr9WZYAAPqA/S5cB7khw1adt9dP+4n7+eh3+Ybjo+bbqtgQuT3JrkRrpjuSv7bZ+l+5N6yhFuVf24qs7q/5ReMKrqBuBGupOPHwTen+QGxhiJVtXf072+36T7k/62kc2nACf078Nbgd+b2cpZCezX7/8DPDPXzGSnAsv6k3W3Am/v23+/vwzvRrpDiZfTvQ5PJfnuTJ+E81ZkSWrEEbAkNWIAS1IjBrAkNWIAS1IjBrAkNWIAa8bN1Vnd+vv/v9Xf4/9rU2zfMckTSd4+qf2umZogKcnbk/xOv3x8kp2HeB5tHgxgDWGuzup2KHBTVb26qqa6AeANwLV0177OuCSLq+rjVfXJvul4YOdpHqJ5brP4WHptdkZndXv36IYkRwLvoZuk5X66e/n/oR8h7wn8c7rJUf6AboKcw+nuwjqyqp5Ish/dXYRb003teXx/4f/oc+xBN+vcjnRzP5wAvJjuhoKtkiwDDhyZF2DCCrqpQj+dZNep7oxL8l+At/T7vRu4vqr+uL+T6uPAC4G/A95WVQ8kuZpuopjXAp/p5/94mG6yn2XAp5I8SjdHAsAp/Wu0BfCGqvo/4742z3kXNOc5AtZQzqW7DXu7Se3/m+4e/FfTzX71H0a27UU3g9VRwH+nm3/glcCjwG/1t7WeAxxTVfvRhex/neK5zwEurG7u308BH62qNXSz0F3S3/v/rPDt5/3dqaq+zbOnoRzt8y/o5oz4ZbrwWzay+ZPAf+yf8ybgvSPbtqyqZVX1s8My1c1du5pnJpOZqOe+qnoN8Gd0s7WN9dpM8RpoM+AIWIOoqoeSTMzqNhp2u9LNRrYT3Sj4eyPbLu9HuTfRTYl4Rd9+E91sWPsArwC+lIS+z7NGv70Dgd/uly+iG/luyJvoghe6/xjOp7sdfNRBwP/oZ/76aZIvAvT/yWxfVV/t+11Id4vzhKkm+Vmfv+q/Xz/yM8CGXxtthgxgDelPgO8AfznSdg5wdlWt6idLWTmybWLC9KeTPFHP3Cc/MRtWgFuq6kBm3grgnyV5c7++c5K9q+pvZ2Dfj2y4y89MzAI2eWaxDb022gx5CEKDWc+sbqMza61vopT1uR1Yku4jhkiyRZKXT9Fvo2bcSvIyYOt+SsI9qmoP4P0892TcNcCRSV7Qzx37OoCqepBu3uCJKyveCnyVDRtsli1tHgxgDW3yrG4r6Sb3vp7uJNrY+hnJjgHOSvJdupNbvzpF142dcWsF3cx0oz7PpACuquvoJu++kW6WrJuAB/vNxwEf6p9zX+DMMX6kC4CP9x91s9UY/TXPOBuatBGSbF1VDyd5IfA14KSq+k7rurR58tiRtHHOS7KU7lMhLjR8tSkcAUtSIx4DlqRGDGBJasQAlqRGDGBJasQAlqRG/j+RquH2D2NQswAAAABJRU5ErkJggg==" id="193" name="Google Shape;193;p13"/>
          <p:cNvSpPr/>
          <p:nvPr/>
        </p:nvSpPr>
        <p:spPr>
          <a:xfrm>
            <a:off x="765175" y="4651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13"/>
          <p:cNvSpPr txBox="1"/>
          <p:nvPr/>
        </p:nvSpPr>
        <p:spPr>
          <a:xfrm>
            <a:off x="1219200" y="6127630"/>
            <a:ext cx="616183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Comparison of Training Scores of Various Algorithms</a:t>
            </a:r>
            <a:endParaRPr sz="1800">
              <a:solidFill>
                <a:schemeClr val="lt1"/>
              </a:solidFill>
              <a:latin typeface="Calibri"/>
              <a:ea typeface="Calibri"/>
              <a:cs typeface="Calibri"/>
              <a:sym typeface="Calibri"/>
            </a:endParaRPr>
          </a:p>
        </p:txBody>
      </p:sp>
      <p:sp>
        <p:nvSpPr>
          <p:cNvPr id="195" name="Google Shape;195;p13"/>
          <p:cNvSpPr/>
          <p:nvPr/>
        </p:nvSpPr>
        <p:spPr>
          <a:xfrm>
            <a:off x="1438" y="923174"/>
            <a:ext cx="9066362"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On Applying Machine Learning, on the memory values the model seems to perform well. It has a high training score because which it should as it needs to remember all the values of the malwares given to it.</a:t>
            </a:r>
            <a:endParaRPr sz="2000">
              <a:solidFill>
                <a:schemeClr val="dk1"/>
              </a:solidFill>
              <a:latin typeface="Calibri"/>
              <a:ea typeface="Calibri"/>
              <a:cs typeface="Calibri"/>
              <a:sym typeface="Calibri"/>
            </a:endParaRPr>
          </a:p>
        </p:txBody>
      </p:sp>
      <p:pic>
        <p:nvPicPr>
          <p:cNvPr id="196" name="Google Shape;196;p13"/>
          <p:cNvPicPr preferRelativeResize="0"/>
          <p:nvPr/>
        </p:nvPicPr>
        <p:blipFill rotWithShape="1">
          <a:blip r:embed="rId3">
            <a:alphaModFix/>
          </a:blip>
          <a:srcRect b="0" l="0" r="0" t="0"/>
          <a:stretch/>
        </p:blipFill>
        <p:spPr>
          <a:xfrm>
            <a:off x="155575" y="2286000"/>
            <a:ext cx="3779182" cy="3657600"/>
          </a:xfrm>
          <a:prstGeom prst="rect">
            <a:avLst/>
          </a:prstGeom>
          <a:noFill/>
          <a:ln>
            <a:noFill/>
          </a:ln>
        </p:spPr>
      </p:pic>
      <p:pic>
        <p:nvPicPr>
          <p:cNvPr id="197" name="Google Shape;197;p13"/>
          <p:cNvPicPr preferRelativeResize="0"/>
          <p:nvPr/>
        </p:nvPicPr>
        <p:blipFill rotWithShape="1">
          <a:blip r:embed="rId4">
            <a:alphaModFix/>
          </a:blip>
          <a:srcRect b="0" l="0" r="0" t="0"/>
          <a:stretch/>
        </p:blipFill>
        <p:spPr>
          <a:xfrm>
            <a:off x="4300118" y="2257818"/>
            <a:ext cx="4267201" cy="36857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1" name="Shape 201"/>
        <p:cNvGrpSpPr/>
        <p:nvPr/>
      </p:nvGrpSpPr>
      <p:grpSpPr>
        <a:xfrm>
          <a:off x="0" y="0"/>
          <a:ext cx="0" cy="0"/>
          <a:chOff x="0" y="0"/>
          <a:chExt cx="0" cy="0"/>
        </a:xfrm>
      </p:grpSpPr>
      <p:sp>
        <p:nvSpPr>
          <p:cNvPr id="202" name="Google Shape;202;p14"/>
          <p:cNvSpPr txBox="1"/>
          <p:nvPr/>
        </p:nvSpPr>
        <p:spPr>
          <a:xfrm>
            <a:off x="943154" y="6248400"/>
            <a:ext cx="71628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Comparison of Testing Scores of Various Algorithms</a:t>
            </a:r>
            <a:endParaRPr/>
          </a:p>
        </p:txBody>
      </p:sp>
      <p:sp>
        <p:nvSpPr>
          <p:cNvPr id="203" name="Google Shape;203;p14"/>
          <p:cNvSpPr txBox="1"/>
          <p:nvPr/>
        </p:nvSpPr>
        <p:spPr>
          <a:xfrm>
            <a:off x="27316" y="7937"/>
            <a:ext cx="9116684"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0000"/>
              </a:buClr>
              <a:buSzPts val="3800"/>
              <a:buFont typeface="Calibri"/>
              <a:buNone/>
            </a:pPr>
            <a:r>
              <a:rPr b="1" lang="en-US" sz="3800">
                <a:solidFill>
                  <a:schemeClr val="dk1"/>
                </a:solidFill>
                <a:latin typeface="Calibri"/>
                <a:ea typeface="Calibri"/>
                <a:cs typeface="Calibri"/>
                <a:sym typeface="Calibri"/>
              </a:rPr>
              <a:t>CONCLUSION-2</a:t>
            </a:r>
            <a:endParaRPr b="1" sz="3800">
              <a:solidFill>
                <a:schemeClr val="dk1"/>
              </a:solidFill>
              <a:latin typeface="Calibri"/>
              <a:ea typeface="Calibri"/>
              <a:cs typeface="Calibri"/>
              <a:sym typeface="Calibri"/>
            </a:endParaRPr>
          </a:p>
        </p:txBody>
      </p:sp>
      <p:sp>
        <p:nvSpPr>
          <p:cNvPr id="204" name="Google Shape;204;p14"/>
          <p:cNvSpPr/>
          <p:nvPr/>
        </p:nvSpPr>
        <p:spPr>
          <a:xfrm>
            <a:off x="1438" y="923174"/>
            <a:ext cx="9066362"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On Applying Machine Learning, on the memory values the model seems to perform well. It has an average training score and is able to predict the new malwares from the previously learnt malwares. The dataset needs to be increased for it to have a higher accuracy.</a:t>
            </a:r>
            <a:endParaRPr sz="2000">
              <a:solidFill>
                <a:schemeClr val="dk1"/>
              </a:solidFill>
              <a:latin typeface="Calibri"/>
              <a:ea typeface="Calibri"/>
              <a:cs typeface="Calibri"/>
              <a:sym typeface="Calibri"/>
            </a:endParaRPr>
          </a:p>
        </p:txBody>
      </p:sp>
      <p:pic>
        <p:nvPicPr>
          <p:cNvPr id="205" name="Google Shape;205;p14"/>
          <p:cNvPicPr preferRelativeResize="0"/>
          <p:nvPr/>
        </p:nvPicPr>
        <p:blipFill rotWithShape="1">
          <a:blip r:embed="rId3">
            <a:alphaModFix/>
          </a:blip>
          <a:srcRect b="0" l="0" r="0" t="0"/>
          <a:stretch/>
        </p:blipFill>
        <p:spPr>
          <a:xfrm>
            <a:off x="27316" y="2514600"/>
            <a:ext cx="3858884" cy="3584700"/>
          </a:xfrm>
          <a:prstGeom prst="rect">
            <a:avLst/>
          </a:prstGeom>
          <a:noFill/>
          <a:ln>
            <a:noFill/>
          </a:ln>
        </p:spPr>
      </p:pic>
      <p:pic>
        <p:nvPicPr>
          <p:cNvPr id="206" name="Google Shape;206;p14"/>
          <p:cNvPicPr preferRelativeResize="0"/>
          <p:nvPr/>
        </p:nvPicPr>
        <p:blipFill rotWithShape="1">
          <a:blip r:embed="rId4">
            <a:alphaModFix/>
          </a:blip>
          <a:srcRect b="0" l="0" r="0" t="0"/>
          <a:stretch/>
        </p:blipFill>
        <p:spPr>
          <a:xfrm>
            <a:off x="4267200" y="2514599"/>
            <a:ext cx="4343400" cy="36043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sp>
        <p:nvSpPr>
          <p:cNvPr id="211" name="Google Shape;211;p15"/>
          <p:cNvSpPr txBox="1"/>
          <p:nvPr/>
        </p:nvSpPr>
        <p:spPr>
          <a:xfrm>
            <a:off x="2895600" y="194965"/>
            <a:ext cx="61722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Implementing Static Malware Analysis and using a Dataset which holds the PE Header Values of the executable and finding the pattern in them.</a:t>
            </a:r>
            <a:endParaRPr sz="1800">
              <a:solidFill>
                <a:schemeClr val="dk1"/>
              </a:solidFill>
              <a:latin typeface="Calibri"/>
              <a:ea typeface="Calibri"/>
              <a:cs typeface="Calibri"/>
              <a:sym typeface="Calibri"/>
            </a:endParaRPr>
          </a:p>
        </p:txBody>
      </p:sp>
      <p:sp>
        <p:nvSpPr>
          <p:cNvPr id="212" name="Google Shape;212;p15"/>
          <p:cNvSpPr txBox="1"/>
          <p:nvPr/>
        </p:nvSpPr>
        <p:spPr>
          <a:xfrm>
            <a:off x="-762000" y="194965"/>
            <a:ext cx="4419600" cy="1143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FF0000"/>
              </a:buClr>
              <a:buSzPts val="3200"/>
              <a:buFont typeface="Calibri"/>
              <a:buNone/>
            </a:pPr>
            <a:r>
              <a:rPr lang="en-US" sz="3200">
                <a:solidFill>
                  <a:schemeClr val="dk1"/>
                </a:solidFill>
                <a:latin typeface="Calibri"/>
                <a:ea typeface="Calibri"/>
                <a:cs typeface="Calibri"/>
                <a:sym typeface="Calibri"/>
              </a:rPr>
              <a:t>ADDITIONAL</a:t>
            </a:r>
            <a:endParaRPr>
              <a:solidFill>
                <a:schemeClr val="dk1"/>
              </a:solidFill>
            </a:endParaRPr>
          </a:p>
          <a:p>
            <a:pPr indent="0" lvl="0" marL="0" marR="0" rtl="0" algn="ctr">
              <a:spcBef>
                <a:spcPts val="0"/>
              </a:spcBef>
              <a:spcAft>
                <a:spcPts val="0"/>
              </a:spcAft>
              <a:buClr>
                <a:srgbClr val="FF0000"/>
              </a:buClr>
              <a:buSzPts val="3200"/>
              <a:buFont typeface="Calibri"/>
              <a:buNone/>
            </a:pPr>
            <a:r>
              <a:rPr lang="en-US" sz="3200">
                <a:solidFill>
                  <a:schemeClr val="dk1"/>
                </a:solidFill>
                <a:latin typeface="Calibri"/>
                <a:ea typeface="Calibri"/>
                <a:cs typeface="Calibri"/>
                <a:sym typeface="Calibri"/>
              </a:rPr>
              <a:t>TECHNIQUES</a:t>
            </a:r>
            <a:endParaRPr sz="3200">
              <a:solidFill>
                <a:schemeClr val="dk1"/>
              </a:solidFill>
              <a:latin typeface="Calibri"/>
              <a:ea typeface="Calibri"/>
              <a:cs typeface="Calibri"/>
              <a:sym typeface="Calibri"/>
            </a:endParaRPr>
          </a:p>
        </p:txBody>
      </p:sp>
      <p:pic>
        <p:nvPicPr>
          <p:cNvPr id="213" name="Google Shape;213;p15"/>
          <p:cNvPicPr preferRelativeResize="0"/>
          <p:nvPr/>
        </p:nvPicPr>
        <p:blipFill rotWithShape="1">
          <a:blip r:embed="rId3">
            <a:alphaModFix/>
          </a:blip>
          <a:srcRect b="0" l="0" r="0" t="0"/>
          <a:stretch/>
        </p:blipFill>
        <p:spPr>
          <a:xfrm>
            <a:off x="417006" y="1223816"/>
            <a:ext cx="5564694" cy="2599333"/>
          </a:xfrm>
          <a:prstGeom prst="rect">
            <a:avLst/>
          </a:prstGeom>
          <a:noFill/>
          <a:ln>
            <a:noFill/>
          </a:ln>
        </p:spPr>
      </p:pic>
      <p:pic>
        <p:nvPicPr>
          <p:cNvPr id="214" name="Google Shape;214;p15"/>
          <p:cNvPicPr preferRelativeResize="0"/>
          <p:nvPr/>
        </p:nvPicPr>
        <p:blipFill rotWithShape="1">
          <a:blip r:embed="rId4">
            <a:alphaModFix/>
          </a:blip>
          <a:srcRect b="0" l="0" r="0" t="0"/>
          <a:stretch/>
        </p:blipFill>
        <p:spPr>
          <a:xfrm>
            <a:off x="3657600" y="4347893"/>
            <a:ext cx="5105400" cy="1771650"/>
          </a:xfrm>
          <a:prstGeom prst="rect">
            <a:avLst/>
          </a:prstGeom>
          <a:noFill/>
          <a:ln>
            <a:noFill/>
          </a:ln>
        </p:spPr>
      </p:pic>
      <p:sp>
        <p:nvSpPr>
          <p:cNvPr id="215" name="Google Shape;215;p15"/>
          <p:cNvSpPr txBox="1"/>
          <p:nvPr/>
        </p:nvSpPr>
        <p:spPr>
          <a:xfrm>
            <a:off x="533400" y="3860530"/>
            <a:ext cx="5029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Fig:- Screenshot of Code</a:t>
            </a:r>
            <a:endParaRPr sz="1800">
              <a:solidFill>
                <a:schemeClr val="dk1"/>
              </a:solidFill>
              <a:latin typeface="Calibri"/>
              <a:ea typeface="Calibri"/>
              <a:cs typeface="Calibri"/>
              <a:sym typeface="Calibri"/>
            </a:endParaRPr>
          </a:p>
        </p:txBody>
      </p:sp>
      <p:sp>
        <p:nvSpPr>
          <p:cNvPr id="216" name="Google Shape;216;p15"/>
          <p:cNvSpPr txBox="1"/>
          <p:nvPr/>
        </p:nvSpPr>
        <p:spPr>
          <a:xfrm>
            <a:off x="3695700" y="6172200"/>
            <a:ext cx="5029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Fig:- Screenshot of Output</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 name="Shape 220"/>
        <p:cNvGrpSpPr/>
        <p:nvPr/>
      </p:nvGrpSpPr>
      <p:grpSpPr>
        <a:xfrm>
          <a:off x="0" y="0"/>
          <a:ext cx="0" cy="0"/>
          <a:chOff x="0" y="0"/>
          <a:chExt cx="0" cy="0"/>
        </a:xfrm>
      </p:grpSpPr>
      <p:sp>
        <p:nvSpPr>
          <p:cNvPr id="221" name="Google Shape;221;p16"/>
          <p:cNvSpPr txBox="1"/>
          <p:nvPr/>
        </p:nvSpPr>
        <p:spPr>
          <a:xfrm>
            <a:off x="0" y="316525"/>
            <a:ext cx="7289700" cy="11430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4400"/>
              <a:buFont typeface="Calibri"/>
              <a:buNone/>
            </a:pPr>
            <a:r>
              <a:rPr b="1" lang="en-US" sz="4400">
                <a:solidFill>
                  <a:schemeClr val="dk1"/>
                </a:solidFill>
                <a:latin typeface="Calibri"/>
                <a:ea typeface="Calibri"/>
                <a:cs typeface="Calibri"/>
                <a:sym typeface="Calibri"/>
              </a:rPr>
              <a:t>ADDITIONAL TASKS DONE</a:t>
            </a:r>
            <a:endParaRPr sz="4400">
              <a:solidFill>
                <a:schemeClr val="dk1"/>
              </a:solidFill>
              <a:latin typeface="Calibri"/>
              <a:ea typeface="Calibri"/>
              <a:cs typeface="Calibri"/>
              <a:sym typeface="Calibri"/>
            </a:endParaRPr>
          </a:p>
        </p:txBody>
      </p:sp>
      <p:sp>
        <p:nvSpPr>
          <p:cNvPr id="222" name="Google Shape;222;p16"/>
          <p:cNvSpPr txBox="1"/>
          <p:nvPr/>
        </p:nvSpPr>
        <p:spPr>
          <a:xfrm>
            <a:off x="76200" y="1295400"/>
            <a:ext cx="6172200" cy="5220600"/>
          </a:xfrm>
          <a:prstGeom prst="rect">
            <a:avLst/>
          </a:prstGeom>
          <a:noFill/>
          <a:ln>
            <a:noFill/>
          </a:ln>
        </p:spPr>
        <p:txBody>
          <a:bodyPr anchorCtr="0" anchor="t" bIns="45700" lIns="91425" spcFirstLastPara="1" rIns="91425" wrap="square" tIns="45700">
            <a:normAutofit fontScale="85000" lnSpcReduction="20000"/>
          </a:bodyPr>
          <a:lstStyle/>
          <a:p>
            <a:pPr indent="-331469" lvl="0" marL="342900" marR="0" rtl="0" algn="l">
              <a:spcBef>
                <a:spcPts val="0"/>
              </a:spcBef>
              <a:spcAft>
                <a:spcPts val="0"/>
              </a:spcAft>
              <a:buClr>
                <a:schemeClr val="dk1"/>
              </a:buClr>
              <a:buSzPct val="100000"/>
              <a:buFont typeface="Arial"/>
              <a:buChar char="•"/>
            </a:pPr>
            <a:r>
              <a:rPr lang="en-US" sz="2400">
                <a:solidFill>
                  <a:schemeClr val="dk1"/>
                </a:solidFill>
                <a:latin typeface="Calibri"/>
                <a:ea typeface="Calibri"/>
                <a:cs typeface="Calibri"/>
                <a:sym typeface="Calibri"/>
              </a:rPr>
              <a:t>Assembled a dataset of more than 65000+ malware samples of different classes such as Ransom-ware, Trojans, RAT, Droppers etc.</a:t>
            </a:r>
            <a:endParaRPr>
              <a:solidFill>
                <a:schemeClr val="dk1"/>
              </a:solidFill>
            </a:endParaRPr>
          </a:p>
          <a:p>
            <a:pPr indent="-331469" lvl="0" marL="342900" marR="0" rtl="0" algn="l">
              <a:spcBef>
                <a:spcPts val="444"/>
              </a:spcBef>
              <a:spcAft>
                <a:spcPts val="0"/>
              </a:spcAft>
              <a:buClr>
                <a:schemeClr val="dk1"/>
              </a:buClr>
              <a:buSzPct val="100000"/>
              <a:buFont typeface="Arial"/>
              <a:buChar char="•"/>
            </a:pPr>
            <a:r>
              <a:rPr lang="en-US" sz="2400">
                <a:solidFill>
                  <a:schemeClr val="dk1"/>
                </a:solidFill>
                <a:latin typeface="Calibri"/>
                <a:ea typeface="Calibri"/>
                <a:cs typeface="Calibri"/>
                <a:sym typeface="Calibri"/>
              </a:rPr>
              <a:t>Studying existing techniques that are implemented  to classify files as benign or malwares using deep and machine learning incorporating both static and dynamic analysis</a:t>
            </a:r>
            <a:endParaRPr>
              <a:solidFill>
                <a:schemeClr val="dk1"/>
              </a:solidFill>
            </a:endParaRPr>
          </a:p>
          <a:p>
            <a:pPr indent="-331469" lvl="0" marL="342900" marR="0" rtl="0" algn="l">
              <a:spcBef>
                <a:spcPts val="444"/>
              </a:spcBef>
              <a:spcAft>
                <a:spcPts val="0"/>
              </a:spcAft>
              <a:buClr>
                <a:schemeClr val="dk1"/>
              </a:buClr>
              <a:buSzPct val="100000"/>
              <a:buFont typeface="Arial"/>
              <a:buChar char="•"/>
            </a:pPr>
            <a:r>
              <a:rPr lang="en-US" sz="2400">
                <a:solidFill>
                  <a:schemeClr val="dk1"/>
                </a:solidFill>
                <a:latin typeface="Calibri"/>
                <a:ea typeface="Calibri"/>
                <a:cs typeface="Calibri"/>
                <a:sym typeface="Calibri"/>
              </a:rPr>
              <a:t>Studying classic techniques that are being used to detect malwares and how antiviruses work.</a:t>
            </a:r>
            <a:endParaRPr>
              <a:solidFill>
                <a:schemeClr val="dk1"/>
              </a:solidFill>
            </a:endParaRPr>
          </a:p>
          <a:p>
            <a:pPr indent="-331469" lvl="0" marL="342900" marR="0" rtl="0" algn="l">
              <a:spcBef>
                <a:spcPts val="444"/>
              </a:spcBef>
              <a:spcAft>
                <a:spcPts val="0"/>
              </a:spcAft>
              <a:buClr>
                <a:schemeClr val="dk1"/>
              </a:buClr>
              <a:buSzPct val="100000"/>
              <a:buFont typeface="Arial"/>
              <a:buChar char="•"/>
            </a:pPr>
            <a:r>
              <a:rPr lang="en-US" sz="2400">
                <a:solidFill>
                  <a:schemeClr val="dk1"/>
                </a:solidFill>
                <a:latin typeface="Calibri"/>
                <a:ea typeface="Calibri"/>
                <a:cs typeface="Calibri"/>
                <a:sym typeface="Calibri"/>
              </a:rPr>
              <a:t>Implementing Static Malware Analysis and extracting the memory hex dump of the executable, then find patterns within them using Machine and Deep Learning.</a:t>
            </a:r>
            <a:endParaRPr>
              <a:solidFill>
                <a:schemeClr val="dk1"/>
              </a:solidFill>
            </a:endParaRPr>
          </a:p>
          <a:p>
            <a:pPr indent="-331469" lvl="0" marL="342900" marR="0" rtl="0" algn="l">
              <a:spcBef>
                <a:spcPts val="444"/>
              </a:spcBef>
              <a:spcAft>
                <a:spcPts val="0"/>
              </a:spcAft>
              <a:buClr>
                <a:schemeClr val="dk1"/>
              </a:buClr>
              <a:buSzPct val="100000"/>
              <a:buFont typeface="Arial"/>
              <a:buChar char="•"/>
            </a:pPr>
            <a:r>
              <a:rPr lang="en-US" sz="2400">
                <a:solidFill>
                  <a:schemeClr val="dk1"/>
                </a:solidFill>
                <a:latin typeface="Calibri"/>
                <a:ea typeface="Calibri"/>
                <a:cs typeface="Calibri"/>
                <a:sym typeface="Calibri"/>
              </a:rPr>
              <a:t>Implementing Static Malware Analysis by extracting strings from malwares and building a classifier using Natural Language Processing and Machine Learning Algorithms.</a:t>
            </a:r>
            <a:endParaRPr>
              <a:solidFill>
                <a:schemeClr val="dk1"/>
              </a:solidFill>
            </a:endParaRPr>
          </a:p>
          <a:p>
            <a:pPr indent="-201930" lvl="0" marL="342900" marR="0" rtl="0" algn="l">
              <a:spcBef>
                <a:spcPts val="444"/>
              </a:spcBef>
              <a:spcAft>
                <a:spcPts val="0"/>
              </a:spcAft>
              <a:buClr>
                <a:schemeClr val="dk1"/>
              </a:buClr>
              <a:buSzPct val="100000"/>
              <a:buFont typeface="Arial"/>
              <a:buNone/>
            </a:pPr>
            <a:r>
              <a:t/>
            </a:r>
            <a:endParaRPr sz="2400">
              <a:solidFill>
                <a:schemeClr val="dk1"/>
              </a:solidFill>
              <a:latin typeface="Calibri"/>
              <a:ea typeface="Calibri"/>
              <a:cs typeface="Calibri"/>
              <a:sym typeface="Calibri"/>
            </a:endParaRPr>
          </a:p>
          <a:p>
            <a:pPr indent="0" lvl="0" marL="0" marR="0" rtl="0" algn="l">
              <a:spcBef>
                <a:spcPts val="444"/>
              </a:spcBef>
              <a:spcAft>
                <a:spcPts val="0"/>
              </a:spcAft>
              <a:buClr>
                <a:schemeClr val="dk1"/>
              </a:buClr>
              <a:buSzPct val="100000"/>
              <a:buFont typeface="Arial"/>
              <a:buNone/>
            </a:pPr>
            <a:r>
              <a:t/>
            </a:r>
            <a:endParaRPr sz="2400">
              <a:solidFill>
                <a:schemeClr val="dk1"/>
              </a:solidFill>
              <a:latin typeface="Calibri"/>
              <a:ea typeface="Calibri"/>
              <a:cs typeface="Calibri"/>
              <a:sym typeface="Calibri"/>
            </a:endParaRPr>
          </a:p>
        </p:txBody>
      </p:sp>
      <p:pic>
        <p:nvPicPr>
          <p:cNvPr id="223" name="Google Shape;223;p16"/>
          <p:cNvPicPr preferRelativeResize="0"/>
          <p:nvPr/>
        </p:nvPicPr>
        <p:blipFill rotWithShape="1">
          <a:blip r:embed="rId3">
            <a:alphaModFix/>
          </a:blip>
          <a:srcRect b="0" l="0" r="0" t="0"/>
          <a:stretch/>
        </p:blipFill>
        <p:spPr>
          <a:xfrm>
            <a:off x="6781799" y="76200"/>
            <a:ext cx="2268187" cy="5745079"/>
          </a:xfrm>
          <a:prstGeom prst="rect">
            <a:avLst/>
          </a:prstGeom>
          <a:noFill/>
          <a:ln>
            <a:noFill/>
          </a:ln>
        </p:spPr>
      </p:pic>
      <p:sp>
        <p:nvSpPr>
          <p:cNvPr id="224" name="Google Shape;224;p16"/>
          <p:cNvSpPr txBox="1"/>
          <p:nvPr/>
        </p:nvSpPr>
        <p:spPr>
          <a:xfrm>
            <a:off x="6477000" y="5943600"/>
            <a:ext cx="265837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Fig:- Assembled Malware Collection </a:t>
            </a:r>
            <a:endParaRPr sz="18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p17"/>
          <p:cNvSpPr txBox="1"/>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b="1" lang="en-US" sz="4400">
                <a:solidFill>
                  <a:schemeClr val="dk1"/>
                </a:solidFill>
                <a:latin typeface="Calibri"/>
                <a:ea typeface="Calibri"/>
                <a:cs typeface="Calibri"/>
                <a:sym typeface="Calibri"/>
              </a:rPr>
              <a:t>THANK YOU</a:t>
            </a:r>
            <a:endParaRPr sz="4400">
              <a:solidFill>
                <a:schemeClr val="dk1"/>
              </a:solidFill>
              <a:latin typeface="Calibri"/>
              <a:ea typeface="Calibri"/>
              <a:cs typeface="Calibri"/>
              <a:sym typeface="Calibri"/>
            </a:endParaRPr>
          </a:p>
        </p:txBody>
      </p:sp>
      <p:cxnSp>
        <p:nvCxnSpPr>
          <p:cNvPr id="230" name="Google Shape;230;p17"/>
          <p:cNvCxnSpPr/>
          <p:nvPr/>
        </p:nvCxnSpPr>
        <p:spPr>
          <a:xfrm>
            <a:off x="0" y="2057400"/>
            <a:ext cx="9144000" cy="0"/>
          </a:xfrm>
          <a:prstGeom prst="straightConnector1">
            <a:avLst/>
          </a:prstGeom>
          <a:noFill/>
          <a:ln cap="flat" cmpd="sng" w="76200">
            <a:solidFill>
              <a:schemeClr val="lt1"/>
            </a:solidFill>
            <a:prstDash val="solid"/>
            <a:round/>
            <a:headEnd len="sm" w="sm" type="none"/>
            <a:tailEnd len="sm" w="sm" type="none"/>
          </a:ln>
        </p:spPr>
      </p:cxnSp>
      <p:cxnSp>
        <p:nvCxnSpPr>
          <p:cNvPr id="231" name="Google Shape;231;p17"/>
          <p:cNvCxnSpPr/>
          <p:nvPr/>
        </p:nvCxnSpPr>
        <p:spPr>
          <a:xfrm>
            <a:off x="0" y="3450566"/>
            <a:ext cx="9144000" cy="0"/>
          </a:xfrm>
          <a:prstGeom prst="straightConnector1">
            <a:avLst/>
          </a:prstGeom>
          <a:noFill/>
          <a:ln cap="flat" cmpd="sng" w="76200">
            <a:solidFill>
              <a:schemeClr val="lt1"/>
            </a:solidFill>
            <a:prstDash val="solid"/>
            <a:round/>
            <a:headEnd len="sm" w="sm" type="none"/>
            <a:tailEnd len="sm" w="sm" type="none"/>
          </a:ln>
        </p:spPr>
      </p:cxnSp>
      <p:cxnSp>
        <p:nvCxnSpPr>
          <p:cNvPr id="232" name="Google Shape;232;p17"/>
          <p:cNvCxnSpPr/>
          <p:nvPr/>
        </p:nvCxnSpPr>
        <p:spPr>
          <a:xfrm>
            <a:off x="1752600" y="21566"/>
            <a:ext cx="0" cy="6858000"/>
          </a:xfrm>
          <a:prstGeom prst="straightConnector1">
            <a:avLst/>
          </a:prstGeom>
          <a:noFill/>
          <a:ln cap="flat" cmpd="sng" w="76200">
            <a:solidFill>
              <a:schemeClr val="lt1"/>
            </a:solidFill>
            <a:prstDash val="solid"/>
            <a:round/>
            <a:headEnd len="sm" w="sm" type="none"/>
            <a:tailEnd len="sm" w="sm" type="none"/>
          </a:ln>
        </p:spPr>
      </p:cxnSp>
      <p:sp>
        <p:nvSpPr>
          <p:cNvPr id="233" name="Google Shape;233;p17"/>
          <p:cNvSpPr txBox="1"/>
          <p:nvPr/>
        </p:nvSpPr>
        <p:spPr>
          <a:xfrm>
            <a:off x="4083550" y="4786875"/>
            <a:ext cx="4308300" cy="11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Vedaang Chopra</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Dr. Sonika Malik</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2020-05-19T20:59:12Z</dcterms:created>
  <dc:creator>vedaang chopra</dc:creator>
</cp:coreProperties>
</file>