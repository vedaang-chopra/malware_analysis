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6" r:id="rId5"/>
    <p:sldId id="266" r:id="rId6"/>
    <p:sldId id="270" r:id="rId7"/>
    <p:sldId id="267" r:id="rId8"/>
    <p:sldId id="268" r:id="rId9"/>
    <p:sldId id="275" r:id="rId10"/>
    <p:sldId id="271" r:id="rId11"/>
    <p:sldId id="272" r:id="rId12"/>
    <p:sldId id="269" r:id="rId13"/>
    <p:sldId id="273" r:id="rId14"/>
    <p:sldId id="274" r:id="rId15"/>
    <p:sldId id="259" r:id="rId16"/>
    <p:sldId id="262" r:id="rId17"/>
    <p:sldId id="26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A85D25-F7E3-493E-B3B8-6F909EDF77E3}"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248070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A85D25-F7E3-493E-B3B8-6F909EDF77E3}"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1604823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A85D25-F7E3-493E-B3B8-6F909EDF77E3}"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226410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3A85D25-F7E3-493E-B3B8-6F909EDF77E3}" type="datetimeFigureOut">
              <a:rPr lang="en-US" smtClean="0"/>
              <a:t>10/1/2020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2070445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3A85D25-F7E3-493E-B3B8-6F909EDF77E3}" type="datetimeFigureOut">
              <a:rPr lang="en-US" smtClean="0"/>
              <a:t>10/1/2020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3873850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A85D25-F7E3-493E-B3B8-6F909EDF77E3}" type="datetimeFigureOut">
              <a:rPr lang="en-US" smtClean="0"/>
              <a:t>10/1/2020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1305509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A85D25-F7E3-493E-B3B8-6F909EDF77E3}" type="datetimeFigureOut">
              <a:rPr lang="en-US" smtClean="0"/>
              <a:t>10/1/2020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382319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A85D25-F7E3-493E-B3B8-6F909EDF77E3}" type="datetimeFigureOut">
              <a:rPr lang="en-US" smtClean="0"/>
              <a:t>10/1/2020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377028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A85D25-F7E3-493E-B3B8-6F909EDF77E3}" type="datetimeFigureOut">
              <a:rPr lang="en-US" smtClean="0"/>
              <a:t>10/1/2020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119699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A85D25-F7E3-493E-B3B8-6F909EDF77E3}"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758225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A85D25-F7E3-493E-B3B8-6F909EDF77E3}"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EFE783-5DB0-4ED6-B80E-A8E489FDAAB4}" type="slidenum">
              <a:rPr lang="en-US" smtClean="0"/>
              <a:t>‹#›</a:t>
            </a:fld>
            <a:endParaRPr lang="en-US"/>
          </a:p>
        </p:txBody>
      </p:sp>
    </p:spTree>
    <p:extLst>
      <p:ext uri="{BB962C8B-B14F-4D97-AF65-F5344CB8AC3E}">
        <p14:creationId xmlns:p14="http://schemas.microsoft.com/office/powerpoint/2010/main" val="3232334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A85D25-F7E3-493E-B3B8-6F909EDF77E3}" type="datetimeFigureOut">
              <a:rPr lang="en-US" smtClean="0"/>
              <a:t>10/1/2020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EFE783-5DB0-4ED6-B80E-A8E489FDAAB4}" type="slidenum">
              <a:rPr lang="en-US" smtClean="0"/>
              <a:t>‹#›</a:t>
            </a:fld>
            <a:endParaRPr lang="en-US"/>
          </a:p>
        </p:txBody>
      </p:sp>
    </p:spTree>
    <p:extLst>
      <p:ext uri="{BB962C8B-B14F-4D97-AF65-F5344CB8AC3E}">
        <p14:creationId xmlns:p14="http://schemas.microsoft.com/office/powerpoint/2010/main" val="3368450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2243" y="142336"/>
            <a:ext cx="4336931" cy="1470025"/>
          </a:xfrm>
        </p:spPr>
        <p:txBody>
          <a:bodyPr>
            <a:normAutofit/>
          </a:bodyPr>
          <a:lstStyle/>
          <a:p>
            <a:r>
              <a:rPr lang="en-US" sz="4000" b="1" dirty="0" smtClean="0">
                <a:solidFill>
                  <a:schemeClr val="bg1"/>
                </a:solidFill>
              </a:rPr>
              <a:t>AN AI BASED APPROACH</a:t>
            </a:r>
            <a:endParaRPr lang="en-US" sz="4000" b="1" dirty="0">
              <a:solidFill>
                <a:schemeClr val="bg1"/>
              </a:solidFill>
            </a:endParaRPr>
          </a:p>
        </p:txBody>
      </p:sp>
      <p:pic>
        <p:nvPicPr>
          <p:cNvPr id="1028" name="Picture 4" descr="Artificial Intelligence in Cybersecurity - Inflow Technolog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487" y="1807324"/>
            <a:ext cx="8843513" cy="4974475"/>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152400" y="152400"/>
            <a:ext cx="4336931"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smtClean="0">
                <a:solidFill>
                  <a:srgbClr val="FF0000"/>
                </a:solidFill>
              </a:rPr>
              <a:t>END POINT SECURITY TOOL</a:t>
            </a:r>
            <a:endParaRPr lang="en-US" sz="4000" dirty="0"/>
          </a:p>
        </p:txBody>
      </p:sp>
      <p:sp>
        <p:nvSpPr>
          <p:cNvPr id="7" name="Rectangle 6"/>
          <p:cNvSpPr/>
          <p:nvPr/>
        </p:nvSpPr>
        <p:spPr>
          <a:xfrm>
            <a:off x="4447607" y="502691"/>
            <a:ext cx="340158" cy="769441"/>
          </a:xfrm>
          <a:prstGeom prst="rect">
            <a:avLst/>
          </a:prstGeom>
        </p:spPr>
        <p:txBody>
          <a:bodyPr wrap="none">
            <a:spAutoFit/>
          </a:bodyPr>
          <a:lstStyle/>
          <a:p>
            <a:r>
              <a:rPr lang="en-US" sz="4400" b="1" dirty="0" smtClean="0">
                <a:solidFill>
                  <a:schemeClr val="bg1"/>
                </a:solidFill>
              </a:rPr>
              <a:t>:</a:t>
            </a:r>
            <a:endParaRPr lang="en-US" sz="4400" dirty="0">
              <a:solidFill>
                <a:schemeClr val="bg1"/>
              </a:solidFill>
            </a:endParaRPr>
          </a:p>
        </p:txBody>
      </p:sp>
    </p:spTree>
    <p:extLst>
      <p:ext uri="{BB962C8B-B14F-4D97-AF65-F5344CB8AC3E}">
        <p14:creationId xmlns:p14="http://schemas.microsoft.com/office/powerpoint/2010/main" val="29707158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11347" y="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smtClean="0">
                <a:solidFill>
                  <a:srgbClr val="FF0000"/>
                </a:solidFill>
              </a:rPr>
              <a:t>PROBLEM STATEMENT!!!</a:t>
            </a:r>
            <a:endParaRPr lang="en-US" b="1" dirty="0">
              <a:solidFill>
                <a:srgbClr val="FF000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3951"/>
            <a:ext cx="9144000" cy="2885243"/>
          </a:xfrm>
          <a:prstGeom prst="rect">
            <a:avLst/>
          </a:prstGeom>
        </p:spPr>
      </p:pic>
      <p:sp>
        <p:nvSpPr>
          <p:cNvPr id="6" name="Content Placeholder 2"/>
          <p:cNvSpPr txBox="1">
            <a:spLocks/>
          </p:cNvSpPr>
          <p:nvPr/>
        </p:nvSpPr>
        <p:spPr>
          <a:xfrm>
            <a:off x="-76200" y="3352800"/>
            <a:ext cx="5019472" cy="200602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82296" indent="0" algn="ctr">
              <a:buFont typeface="Arial" pitchFamily="34" charset="0"/>
              <a:buNone/>
            </a:pPr>
            <a:endParaRPr lang="en-US" sz="2400" dirty="0" smtClean="0">
              <a:solidFill>
                <a:schemeClr val="bg1"/>
              </a:solidFill>
            </a:endParaRPr>
          </a:p>
          <a:p>
            <a:pPr marL="82296" indent="0" algn="ctr">
              <a:buFont typeface="Arial" pitchFamily="34" charset="0"/>
              <a:buNone/>
            </a:pPr>
            <a:r>
              <a:rPr lang="en-US" sz="2400" dirty="0" smtClean="0">
                <a:solidFill>
                  <a:schemeClr val="bg1"/>
                </a:solidFill>
              </a:rPr>
              <a:t>Goal is to build a product that will protect End Point Systems from Local Code Execution Attacks.</a:t>
            </a:r>
            <a:endParaRPr lang="en-US" sz="2400" dirty="0">
              <a:solidFill>
                <a:schemeClr val="bg1"/>
              </a:solidFill>
            </a:endParaRPr>
          </a:p>
        </p:txBody>
      </p:sp>
      <p:sp>
        <p:nvSpPr>
          <p:cNvPr id="7" name="TextBox 6"/>
          <p:cNvSpPr txBox="1"/>
          <p:nvPr/>
        </p:nvSpPr>
        <p:spPr>
          <a:xfrm>
            <a:off x="3742426" y="5181600"/>
            <a:ext cx="5257800" cy="1569660"/>
          </a:xfrm>
          <a:prstGeom prst="rect">
            <a:avLst/>
          </a:prstGeom>
          <a:noFill/>
        </p:spPr>
        <p:txBody>
          <a:bodyPr wrap="square" rtlCol="0">
            <a:spAutoFit/>
          </a:bodyPr>
          <a:lstStyle/>
          <a:p>
            <a:pPr algn="ctr"/>
            <a:r>
              <a:rPr lang="en-US" sz="2400" dirty="0" smtClean="0">
                <a:solidFill>
                  <a:schemeClr val="bg1"/>
                </a:solidFill>
              </a:rPr>
              <a:t>Enhance the accuracy in Malware </a:t>
            </a:r>
            <a:r>
              <a:rPr lang="en-US" sz="2400" dirty="0">
                <a:solidFill>
                  <a:schemeClr val="bg1"/>
                </a:solidFill>
              </a:rPr>
              <a:t>C</a:t>
            </a:r>
            <a:r>
              <a:rPr lang="en-US" sz="2400" dirty="0" smtClean="0">
                <a:solidFill>
                  <a:schemeClr val="bg1"/>
                </a:solidFill>
              </a:rPr>
              <a:t>lassification  and Detection  strategies by studying existing strategies and developing new ones</a:t>
            </a:r>
            <a:endParaRPr lang="en-US" sz="2400" dirty="0">
              <a:solidFill>
                <a:schemeClr val="bg1"/>
              </a:solidFill>
            </a:endParaRPr>
          </a:p>
        </p:txBody>
      </p:sp>
      <p:sp>
        <p:nvSpPr>
          <p:cNvPr id="8" name="Bent-Up Arrow 7"/>
          <p:cNvSpPr/>
          <p:nvPr/>
        </p:nvSpPr>
        <p:spPr>
          <a:xfrm rot="5400000">
            <a:off x="1981200" y="4803475"/>
            <a:ext cx="1066800" cy="1371600"/>
          </a:xfrm>
          <a:prstGeom prst="bentUpArrow">
            <a:avLst/>
          </a:prstGeom>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41899171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6700" y="3810000"/>
            <a:ext cx="8610600" cy="2677656"/>
          </a:xfrm>
          <a:prstGeom prst="rect">
            <a:avLst/>
          </a:prstGeom>
          <a:noFill/>
        </p:spPr>
        <p:txBody>
          <a:bodyPr wrap="square" rtlCol="0">
            <a:spAutoFit/>
          </a:bodyPr>
          <a:lstStyle/>
          <a:p>
            <a:pPr algn="ctr"/>
            <a:r>
              <a:rPr lang="en-US" sz="2400" dirty="0" smtClean="0">
                <a:solidFill>
                  <a:schemeClr val="bg1"/>
                </a:solidFill>
              </a:rPr>
              <a:t>Implement techniques that use </a:t>
            </a:r>
            <a:r>
              <a:rPr lang="en-US" sz="2400" dirty="0" smtClean="0">
                <a:solidFill>
                  <a:srgbClr val="FF0000"/>
                </a:solidFill>
              </a:rPr>
              <a:t>TECHNOLOGIES/CONCEPTS</a:t>
            </a:r>
            <a:r>
              <a:rPr lang="en-US" sz="2400" dirty="0" smtClean="0">
                <a:solidFill>
                  <a:schemeClr val="bg1"/>
                </a:solidFill>
              </a:rPr>
              <a:t>:</a:t>
            </a:r>
          </a:p>
          <a:p>
            <a:pPr marL="457200" indent="-457200">
              <a:buAutoNum type="arabicPeriod"/>
            </a:pPr>
            <a:r>
              <a:rPr lang="en-US" sz="2400" dirty="0" smtClean="0">
                <a:solidFill>
                  <a:schemeClr val="bg1"/>
                </a:solidFill>
              </a:rPr>
              <a:t>Malware Analysis </a:t>
            </a:r>
          </a:p>
          <a:p>
            <a:pPr marL="914400" lvl="1" indent="-457200">
              <a:buAutoNum type="arabicPeriod"/>
            </a:pPr>
            <a:r>
              <a:rPr lang="en-US" sz="2400" dirty="0" smtClean="0">
                <a:solidFill>
                  <a:schemeClr val="bg1"/>
                </a:solidFill>
              </a:rPr>
              <a:t>Static and Dynamic Analysis</a:t>
            </a:r>
          </a:p>
          <a:p>
            <a:pPr marL="914400" lvl="1" indent="-457200">
              <a:buAutoNum type="arabicPeriod"/>
            </a:pPr>
            <a:r>
              <a:rPr lang="en-US" sz="2400" dirty="0" smtClean="0">
                <a:solidFill>
                  <a:schemeClr val="bg1"/>
                </a:solidFill>
              </a:rPr>
              <a:t>Memory Forensics</a:t>
            </a:r>
          </a:p>
          <a:p>
            <a:pPr marL="457200" indent="-457200">
              <a:buAutoNum type="arabicPeriod"/>
            </a:pPr>
            <a:r>
              <a:rPr lang="en-US" sz="2400" dirty="0" smtClean="0">
                <a:solidFill>
                  <a:schemeClr val="bg1"/>
                </a:solidFill>
              </a:rPr>
              <a:t>Artificial Intelligence</a:t>
            </a:r>
          </a:p>
          <a:p>
            <a:pPr marL="914400" lvl="1" indent="-457200">
              <a:buAutoNum type="arabicPeriod"/>
            </a:pPr>
            <a:r>
              <a:rPr lang="en-US" sz="2400" dirty="0" smtClean="0">
                <a:solidFill>
                  <a:schemeClr val="bg1"/>
                </a:solidFill>
              </a:rPr>
              <a:t>Machine Learning</a:t>
            </a:r>
          </a:p>
          <a:p>
            <a:pPr marL="914400" lvl="1" indent="-457200">
              <a:buAutoNum type="arabicPeriod"/>
            </a:pPr>
            <a:r>
              <a:rPr lang="en-US" sz="2400" dirty="0" smtClean="0">
                <a:solidFill>
                  <a:schemeClr val="bg1"/>
                </a:solidFill>
              </a:rPr>
              <a:t>Deep Learning</a:t>
            </a:r>
          </a:p>
        </p:txBody>
      </p:sp>
      <p:pic>
        <p:nvPicPr>
          <p:cNvPr id="5" name="Picture 7" descr="D:\Projects\EndPoint Security Tool\Presentation\Images\60914285-flat-line-design-illustration-concept-plan-of-mobile-application-development-process-app-design-pro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 y="698441"/>
            <a:ext cx="9144000" cy="290596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1"/>
          <p:cNvSpPr txBox="1">
            <a:spLocks/>
          </p:cNvSpPr>
          <p:nvPr/>
        </p:nvSpPr>
        <p:spPr>
          <a:xfrm>
            <a:off x="457200" y="-76200"/>
            <a:ext cx="82296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smtClean="0">
                <a:solidFill>
                  <a:srgbClr val="FF0000"/>
                </a:solidFill>
              </a:rPr>
              <a:t>THE PROCESS</a:t>
            </a:r>
            <a:endParaRPr lang="en-US" b="1" dirty="0"/>
          </a:p>
        </p:txBody>
      </p:sp>
    </p:spTree>
    <p:extLst>
      <p:ext uri="{BB962C8B-B14F-4D97-AF65-F5344CB8AC3E}">
        <p14:creationId xmlns:p14="http://schemas.microsoft.com/office/powerpoint/2010/main" val="15602492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edaa\Downloads\Untitled Diagram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0734" y="0"/>
            <a:ext cx="5013266"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1"/>
          <p:cNvSpPr txBox="1">
            <a:spLocks/>
          </p:cNvSpPr>
          <p:nvPr/>
        </p:nvSpPr>
        <p:spPr>
          <a:xfrm>
            <a:off x="51758" y="1219200"/>
            <a:ext cx="4078976" cy="1143000"/>
          </a:xfrm>
          <a:prstGeom prst="rect">
            <a:avLst/>
          </a:prstGeom>
        </p:spPr>
        <p:txBody>
          <a:bodyP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smtClean="0">
                <a:solidFill>
                  <a:srgbClr val="FF0000"/>
                </a:solidFill>
              </a:rPr>
              <a:t>FLOW OF CODE OF PROJECT</a:t>
            </a:r>
            <a:endParaRPr lang="en-US" b="1" dirty="0"/>
          </a:p>
        </p:txBody>
      </p:sp>
      <p:sp>
        <p:nvSpPr>
          <p:cNvPr id="5" name="TextBox 4"/>
          <p:cNvSpPr txBox="1"/>
          <p:nvPr/>
        </p:nvSpPr>
        <p:spPr>
          <a:xfrm>
            <a:off x="15815" y="2819400"/>
            <a:ext cx="4078976" cy="3046988"/>
          </a:xfrm>
          <a:prstGeom prst="rect">
            <a:avLst/>
          </a:prstGeom>
          <a:noFill/>
        </p:spPr>
        <p:txBody>
          <a:bodyPr wrap="square" rtlCol="0">
            <a:spAutoFit/>
          </a:bodyPr>
          <a:lstStyle/>
          <a:p>
            <a:r>
              <a:rPr lang="en-US" sz="2400" dirty="0">
                <a:solidFill>
                  <a:schemeClr val="bg1"/>
                </a:solidFill>
              </a:rPr>
              <a:t>The Project flow can be classified into 4 separate phases:</a:t>
            </a:r>
          </a:p>
          <a:p>
            <a:pPr marL="342900" lvl="0" indent="-342900">
              <a:buFont typeface="Arial" pitchFamily="34" charset="0"/>
              <a:buChar char="•"/>
            </a:pPr>
            <a:r>
              <a:rPr lang="en-US" sz="2400" dirty="0">
                <a:solidFill>
                  <a:schemeClr val="bg1"/>
                </a:solidFill>
              </a:rPr>
              <a:t>LAB SETUP</a:t>
            </a:r>
          </a:p>
          <a:p>
            <a:pPr marL="342900" lvl="0" indent="-342900">
              <a:buFont typeface="Arial" pitchFamily="34" charset="0"/>
              <a:buChar char="•"/>
            </a:pPr>
            <a:r>
              <a:rPr lang="en-US" sz="2400" dirty="0">
                <a:solidFill>
                  <a:schemeClr val="bg1"/>
                </a:solidFill>
              </a:rPr>
              <a:t>SAMPLE GENERATION</a:t>
            </a:r>
          </a:p>
          <a:p>
            <a:pPr marL="342900" lvl="0" indent="-342900">
              <a:buFont typeface="Arial" pitchFamily="34" charset="0"/>
              <a:buChar char="•"/>
            </a:pPr>
            <a:r>
              <a:rPr lang="en-US" sz="2400" dirty="0">
                <a:solidFill>
                  <a:schemeClr val="bg1"/>
                </a:solidFill>
              </a:rPr>
              <a:t>MEMORY ANALYSIS</a:t>
            </a:r>
          </a:p>
          <a:p>
            <a:pPr marL="342900" lvl="0" indent="-342900">
              <a:buFont typeface="Arial" pitchFamily="34" charset="0"/>
              <a:buChar char="•"/>
            </a:pPr>
            <a:r>
              <a:rPr lang="en-US" sz="2400" dirty="0">
                <a:solidFill>
                  <a:schemeClr val="bg1"/>
                </a:solidFill>
              </a:rPr>
              <a:t>ARTIFICIAL INTELLIGENCE</a:t>
            </a:r>
          </a:p>
          <a:p>
            <a:pPr algn="ctr"/>
            <a:endParaRPr lang="en-US" sz="2400" dirty="0">
              <a:solidFill>
                <a:schemeClr val="bg1"/>
              </a:solidFill>
            </a:endParaRPr>
          </a:p>
        </p:txBody>
      </p:sp>
    </p:spTree>
    <p:extLst>
      <p:ext uri="{BB962C8B-B14F-4D97-AF65-F5344CB8AC3E}">
        <p14:creationId xmlns:p14="http://schemas.microsoft.com/office/powerpoint/2010/main" val="16604316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7574" y="411193"/>
            <a:ext cx="4672642" cy="1143000"/>
          </a:xfrm>
        </p:spPr>
        <p:txBody>
          <a:bodyPr>
            <a:noAutofit/>
          </a:bodyPr>
          <a:lstStyle/>
          <a:p>
            <a:r>
              <a:rPr lang="en-US" sz="4000" b="1" dirty="0">
                <a:solidFill>
                  <a:srgbClr val="FF0000"/>
                </a:solidFill>
              </a:rPr>
              <a:t>MALWARE ANALYSIS</a:t>
            </a:r>
            <a:br>
              <a:rPr lang="en-US" sz="4000" b="1" dirty="0">
                <a:solidFill>
                  <a:srgbClr val="FF0000"/>
                </a:solidFill>
              </a:rPr>
            </a:br>
            <a:r>
              <a:rPr lang="en-US" sz="4000" b="1" dirty="0">
                <a:solidFill>
                  <a:srgbClr val="FF0000"/>
                </a:solidFill>
              </a:rPr>
              <a:t>LAB SETUP</a:t>
            </a:r>
          </a:p>
        </p:txBody>
      </p:sp>
      <p:sp>
        <p:nvSpPr>
          <p:cNvPr id="5" name="TextBox 4"/>
          <p:cNvSpPr txBox="1"/>
          <p:nvPr/>
        </p:nvSpPr>
        <p:spPr>
          <a:xfrm>
            <a:off x="4495800" y="365185"/>
            <a:ext cx="4572000" cy="1569660"/>
          </a:xfrm>
          <a:prstGeom prst="rect">
            <a:avLst/>
          </a:prstGeom>
          <a:noFill/>
        </p:spPr>
        <p:txBody>
          <a:bodyPr wrap="square" rtlCol="0">
            <a:spAutoFit/>
          </a:bodyPr>
          <a:lstStyle/>
          <a:p>
            <a:pPr algn="ctr"/>
            <a:r>
              <a:rPr lang="en-US" sz="2400" dirty="0" smtClean="0">
                <a:solidFill>
                  <a:schemeClr val="bg1"/>
                </a:solidFill>
              </a:rPr>
              <a:t>To analyze malware, there is a need to setup a complete LAB including hypervisors,  malware analysis tools, forensics tools etc.. </a:t>
            </a:r>
            <a:endParaRPr lang="en-US" sz="2400" dirty="0">
              <a:solidFill>
                <a:schemeClr val="bg1"/>
              </a:solidFill>
            </a:endParaRPr>
          </a:p>
        </p:txBody>
      </p:sp>
      <p:sp>
        <p:nvSpPr>
          <p:cNvPr id="6" name="TextBox 5"/>
          <p:cNvSpPr txBox="1"/>
          <p:nvPr/>
        </p:nvSpPr>
        <p:spPr>
          <a:xfrm>
            <a:off x="218536" y="2185358"/>
            <a:ext cx="8773064" cy="1323439"/>
          </a:xfrm>
          <a:prstGeom prst="rect">
            <a:avLst/>
          </a:prstGeom>
          <a:noFill/>
        </p:spPr>
        <p:txBody>
          <a:bodyPr wrap="square" rtlCol="0">
            <a:spAutoFit/>
          </a:bodyPr>
          <a:lstStyle/>
          <a:p>
            <a:r>
              <a:rPr lang="en-US" sz="2000" dirty="0" smtClean="0">
                <a:solidFill>
                  <a:schemeClr val="bg1"/>
                </a:solidFill>
              </a:rPr>
              <a:t>MALWARE ANALYSIS LAB SETUP:</a:t>
            </a:r>
          </a:p>
          <a:p>
            <a:r>
              <a:rPr lang="en-US" sz="2000" dirty="0" smtClean="0">
                <a:solidFill>
                  <a:schemeClr val="bg1"/>
                </a:solidFill>
              </a:rPr>
              <a:t>1. VMware machine with WINDOWS 10(trial)</a:t>
            </a:r>
          </a:p>
          <a:p>
            <a:r>
              <a:rPr lang="en-US" sz="2000" dirty="0" smtClean="0">
                <a:solidFill>
                  <a:schemeClr val="bg1"/>
                </a:solidFill>
              </a:rPr>
              <a:t>2. Installation of  FLARE-VM over Windows OS</a:t>
            </a:r>
          </a:p>
          <a:p>
            <a:endParaRPr lang="en-US" sz="2000" dirty="0">
              <a:solidFill>
                <a:schemeClr val="bg1"/>
              </a:solidFill>
            </a:endParaRPr>
          </a:p>
        </p:txBody>
      </p:sp>
      <p:sp>
        <p:nvSpPr>
          <p:cNvPr id="7" name="TextBox 6"/>
          <p:cNvSpPr txBox="1"/>
          <p:nvPr/>
        </p:nvSpPr>
        <p:spPr>
          <a:xfrm>
            <a:off x="218536" y="3755018"/>
            <a:ext cx="8773064" cy="1938992"/>
          </a:xfrm>
          <a:prstGeom prst="rect">
            <a:avLst/>
          </a:prstGeom>
          <a:noFill/>
        </p:spPr>
        <p:txBody>
          <a:bodyPr wrap="square" rtlCol="0">
            <a:spAutoFit/>
          </a:bodyPr>
          <a:lstStyle/>
          <a:p>
            <a:r>
              <a:rPr lang="en-US" sz="2000" dirty="0" smtClean="0">
                <a:solidFill>
                  <a:schemeClr val="bg1"/>
                </a:solidFill>
              </a:rPr>
              <a:t>MEMORY FORENSICS LAB SETUP:</a:t>
            </a:r>
          </a:p>
          <a:p>
            <a:r>
              <a:rPr lang="en-US" sz="2000" dirty="0" smtClean="0">
                <a:solidFill>
                  <a:schemeClr val="bg1"/>
                </a:solidFill>
              </a:rPr>
              <a:t>1. VMware machine with UBUNTU 18.04</a:t>
            </a:r>
          </a:p>
          <a:p>
            <a:r>
              <a:rPr lang="en-US" sz="2000" dirty="0" smtClean="0">
                <a:solidFill>
                  <a:schemeClr val="bg1"/>
                </a:solidFill>
              </a:rPr>
              <a:t>2. Installation of CUCKOO Sandbox </a:t>
            </a:r>
          </a:p>
          <a:p>
            <a:r>
              <a:rPr lang="en-US" sz="2000" dirty="0" smtClean="0">
                <a:solidFill>
                  <a:schemeClr val="bg1"/>
                </a:solidFill>
              </a:rPr>
              <a:t>3. Installation of Virtual box machine with Windows 10 inside VM machine</a:t>
            </a:r>
          </a:p>
          <a:p>
            <a:r>
              <a:rPr lang="en-US" sz="2000" dirty="0" smtClean="0">
                <a:solidFill>
                  <a:schemeClr val="bg1"/>
                </a:solidFill>
              </a:rPr>
              <a:t>4. Installation of Volatility</a:t>
            </a:r>
          </a:p>
          <a:p>
            <a:r>
              <a:rPr lang="en-US" sz="2000" dirty="0" smtClean="0">
                <a:solidFill>
                  <a:schemeClr val="bg1"/>
                </a:solidFill>
              </a:rPr>
              <a:t>5. Installation of Virtual box Ubuntu Server with </a:t>
            </a:r>
            <a:r>
              <a:rPr lang="en-US" sz="2000" dirty="0" err="1" smtClean="0">
                <a:solidFill>
                  <a:schemeClr val="bg1"/>
                </a:solidFill>
              </a:rPr>
              <a:t>Inetsim</a:t>
            </a:r>
            <a:r>
              <a:rPr lang="en-US" sz="2000" dirty="0" smtClean="0">
                <a:solidFill>
                  <a:schemeClr val="bg1"/>
                </a:solidFill>
              </a:rPr>
              <a:t>  </a:t>
            </a:r>
            <a:endParaRPr lang="en-US" sz="2000" dirty="0">
              <a:solidFill>
                <a:schemeClr val="bg1"/>
              </a:solidFill>
            </a:endParaRPr>
          </a:p>
        </p:txBody>
      </p:sp>
      <p:sp>
        <p:nvSpPr>
          <p:cNvPr id="10" name="TextBox 9"/>
          <p:cNvSpPr txBox="1"/>
          <p:nvPr/>
        </p:nvSpPr>
        <p:spPr>
          <a:xfrm>
            <a:off x="4147868" y="820924"/>
            <a:ext cx="457200" cy="646331"/>
          </a:xfrm>
          <a:prstGeom prst="rect">
            <a:avLst/>
          </a:prstGeom>
          <a:noFill/>
        </p:spPr>
        <p:txBody>
          <a:bodyPr wrap="square" rtlCol="0">
            <a:spAutoFit/>
          </a:bodyPr>
          <a:lstStyle/>
          <a:p>
            <a:r>
              <a:rPr lang="en-US" sz="3600" dirty="0" smtClean="0">
                <a:solidFill>
                  <a:srgbClr val="FF0000"/>
                </a:solidFill>
              </a:rPr>
              <a:t>:-</a:t>
            </a:r>
            <a:endParaRPr lang="en-US" sz="3600" dirty="0">
              <a:solidFill>
                <a:srgbClr val="FF0000"/>
              </a:solidFill>
            </a:endParaRPr>
          </a:p>
        </p:txBody>
      </p:sp>
    </p:spTree>
    <p:extLst>
      <p:ext uri="{BB962C8B-B14F-4D97-AF65-F5344CB8AC3E}">
        <p14:creationId xmlns:p14="http://schemas.microsoft.com/office/powerpoint/2010/main" val="14137802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vedaa\Downloads\Lab Setup (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526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76200" y="152400"/>
            <a:ext cx="8991600" cy="11430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FF0000"/>
                </a:solidFill>
              </a:rPr>
              <a:t>LIVE MALWARE SAMPLES COLLECTION!!!</a:t>
            </a:r>
          </a:p>
        </p:txBody>
      </p:sp>
      <p:sp>
        <p:nvSpPr>
          <p:cNvPr id="3" name="TextBox 2"/>
          <p:cNvSpPr txBox="1"/>
          <p:nvPr/>
        </p:nvSpPr>
        <p:spPr>
          <a:xfrm>
            <a:off x="51758" y="1143000"/>
            <a:ext cx="9067800" cy="830997"/>
          </a:xfrm>
          <a:prstGeom prst="rect">
            <a:avLst/>
          </a:prstGeom>
          <a:noFill/>
        </p:spPr>
        <p:txBody>
          <a:bodyPr wrap="square" rtlCol="0">
            <a:spAutoFit/>
          </a:bodyPr>
          <a:lstStyle/>
          <a:p>
            <a:pPr algn="just"/>
            <a:r>
              <a:rPr lang="en-US" sz="2400" dirty="0" smtClean="0">
                <a:solidFill>
                  <a:schemeClr val="bg1"/>
                </a:solidFill>
              </a:rPr>
              <a:t>To create a dataset, malware samples were needed. To collect malwares various public repositories were utilized.  </a:t>
            </a:r>
            <a:endParaRPr lang="en-US" sz="2400" dirty="0">
              <a:solidFill>
                <a:schemeClr val="bg1"/>
              </a:solidFill>
            </a:endParaRPr>
          </a:p>
        </p:txBody>
      </p:sp>
      <p:sp>
        <p:nvSpPr>
          <p:cNvPr id="4" name="TextBox 3"/>
          <p:cNvSpPr txBox="1"/>
          <p:nvPr/>
        </p:nvSpPr>
        <p:spPr>
          <a:xfrm>
            <a:off x="76200" y="2514600"/>
            <a:ext cx="8872268" cy="1200329"/>
          </a:xfrm>
          <a:prstGeom prst="rect">
            <a:avLst/>
          </a:prstGeom>
          <a:noFill/>
        </p:spPr>
        <p:txBody>
          <a:bodyPr wrap="square" rtlCol="0">
            <a:spAutoFit/>
          </a:bodyPr>
          <a:lstStyle/>
          <a:p>
            <a:pPr algn="just"/>
            <a:r>
              <a:rPr lang="en-US" sz="2400" dirty="0" smtClean="0">
                <a:solidFill>
                  <a:schemeClr val="bg1"/>
                </a:solidFill>
              </a:rPr>
              <a:t>The focus was to mainly to collect malware executable of known type(such as </a:t>
            </a:r>
            <a:r>
              <a:rPr lang="en-US" sz="2400" dirty="0" smtClean="0">
                <a:solidFill>
                  <a:schemeClr val="bg1"/>
                </a:solidFill>
              </a:rPr>
              <a:t>Ransomware</a:t>
            </a:r>
            <a:r>
              <a:rPr lang="en-US" sz="2400" dirty="0" smtClean="0">
                <a:solidFill>
                  <a:schemeClr val="bg1"/>
                </a:solidFill>
              </a:rPr>
              <a:t>, </a:t>
            </a:r>
            <a:r>
              <a:rPr lang="en-US" sz="2400" dirty="0" smtClean="0">
                <a:solidFill>
                  <a:schemeClr val="bg1"/>
                </a:solidFill>
              </a:rPr>
              <a:t>Trojans </a:t>
            </a:r>
            <a:r>
              <a:rPr lang="en-US" sz="2400" dirty="0" smtClean="0">
                <a:solidFill>
                  <a:schemeClr val="bg1"/>
                </a:solidFill>
              </a:rPr>
              <a:t>etc.) to create a much more focused dataset.</a:t>
            </a:r>
            <a:endParaRPr lang="en-US" sz="2400" dirty="0">
              <a:solidFill>
                <a:schemeClr val="bg1"/>
              </a:solidFill>
            </a:endParaRPr>
          </a:p>
        </p:txBody>
      </p:sp>
      <p:sp>
        <p:nvSpPr>
          <p:cNvPr id="5" name="TextBox 4"/>
          <p:cNvSpPr txBox="1"/>
          <p:nvPr/>
        </p:nvSpPr>
        <p:spPr>
          <a:xfrm>
            <a:off x="98485" y="5257800"/>
            <a:ext cx="8991600" cy="1200329"/>
          </a:xfrm>
          <a:prstGeom prst="rect">
            <a:avLst/>
          </a:prstGeom>
          <a:noFill/>
        </p:spPr>
        <p:txBody>
          <a:bodyPr wrap="square" rtlCol="0">
            <a:spAutoFit/>
          </a:bodyPr>
          <a:lstStyle/>
          <a:p>
            <a:pPr algn="just"/>
            <a:r>
              <a:rPr lang="en-US" sz="2400" dirty="0">
                <a:solidFill>
                  <a:schemeClr val="bg1"/>
                </a:solidFill>
              </a:rPr>
              <a:t>T</a:t>
            </a:r>
            <a:r>
              <a:rPr lang="en-US" sz="2400" dirty="0" smtClean="0">
                <a:solidFill>
                  <a:schemeClr val="bg1"/>
                </a:solidFill>
              </a:rPr>
              <a:t>he malwares also needed to be executed prior to analysis to ensure they were correct. Also they had to be verified from public domain websites such as </a:t>
            </a:r>
            <a:r>
              <a:rPr lang="en-US" sz="2400" dirty="0" smtClean="0">
                <a:solidFill>
                  <a:schemeClr val="bg1"/>
                </a:solidFill>
              </a:rPr>
              <a:t>Virus Total, </a:t>
            </a:r>
            <a:r>
              <a:rPr lang="en-US" sz="2400" dirty="0" smtClean="0">
                <a:solidFill>
                  <a:schemeClr val="bg1"/>
                </a:solidFill>
              </a:rPr>
              <a:t>etc.</a:t>
            </a:r>
            <a:endParaRPr lang="en-US" sz="2400" dirty="0">
              <a:solidFill>
                <a:schemeClr val="bg1"/>
              </a:solidFill>
            </a:endParaRPr>
          </a:p>
        </p:txBody>
      </p:sp>
      <p:sp>
        <p:nvSpPr>
          <p:cNvPr id="6" name="Rectangle 5"/>
          <p:cNvSpPr/>
          <p:nvPr/>
        </p:nvSpPr>
        <p:spPr>
          <a:xfrm>
            <a:off x="135866" y="3962400"/>
            <a:ext cx="8872268" cy="830997"/>
          </a:xfrm>
          <a:prstGeom prst="rect">
            <a:avLst/>
          </a:prstGeom>
        </p:spPr>
        <p:txBody>
          <a:bodyPr wrap="square">
            <a:spAutoFit/>
          </a:bodyPr>
          <a:lstStyle/>
          <a:p>
            <a:pPr algn="just"/>
            <a:r>
              <a:rPr lang="en-US" sz="2400" dirty="0">
                <a:solidFill>
                  <a:schemeClr val="bg1"/>
                </a:solidFill>
              </a:rPr>
              <a:t>It was also needed to be kept in mind that malwares need to be OS compatible, as our analysis used a 64-bit Windows OS</a:t>
            </a:r>
          </a:p>
        </p:txBody>
      </p:sp>
    </p:spTree>
    <p:extLst>
      <p:ext uri="{BB962C8B-B14F-4D97-AF65-F5344CB8AC3E}">
        <p14:creationId xmlns:p14="http://schemas.microsoft.com/office/powerpoint/2010/main" val="12071236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76200" y="152400"/>
            <a:ext cx="8915400" cy="11430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solidFill>
                  <a:srgbClr val="FF0000"/>
                </a:solidFill>
              </a:rPr>
              <a:t>CREATING MEMORY DUMPS</a:t>
            </a:r>
            <a:endParaRPr lang="en-US" sz="3600" dirty="0">
              <a:solidFill>
                <a:srgbClr val="FF0000"/>
              </a:solidFill>
            </a:endParaRPr>
          </a:p>
        </p:txBody>
      </p:sp>
      <p:sp>
        <p:nvSpPr>
          <p:cNvPr id="3" name="Rectangle 2"/>
          <p:cNvSpPr/>
          <p:nvPr/>
        </p:nvSpPr>
        <p:spPr>
          <a:xfrm>
            <a:off x="3375085" y="1809480"/>
            <a:ext cx="5715000" cy="1200329"/>
          </a:xfrm>
          <a:prstGeom prst="rect">
            <a:avLst/>
          </a:prstGeom>
        </p:spPr>
        <p:txBody>
          <a:bodyPr wrap="square">
            <a:spAutoFit/>
          </a:bodyPr>
          <a:lstStyle/>
          <a:p>
            <a:pPr algn="ctr"/>
            <a:r>
              <a:rPr lang="en-US" sz="2400" b="1" i="1" dirty="0" err="1" smtClean="0">
                <a:solidFill>
                  <a:schemeClr val="bg1"/>
                </a:solidFill>
              </a:rPr>
              <a:t>VBoxManage</a:t>
            </a:r>
            <a:r>
              <a:rPr lang="en-US" sz="2400" b="1" i="1" dirty="0" smtClean="0">
                <a:solidFill>
                  <a:schemeClr val="bg1"/>
                </a:solidFill>
              </a:rPr>
              <a:t> </a:t>
            </a:r>
            <a:r>
              <a:rPr lang="en-US" sz="2400" b="1" i="1" dirty="0" err="1" smtClean="0">
                <a:solidFill>
                  <a:schemeClr val="bg1"/>
                </a:solidFill>
              </a:rPr>
              <a:t>debugvm</a:t>
            </a:r>
            <a:r>
              <a:rPr lang="en-US" sz="2400" b="1" i="1" dirty="0" smtClean="0">
                <a:solidFill>
                  <a:schemeClr val="bg1"/>
                </a:solidFill>
              </a:rPr>
              <a:t> &lt;Virtual Machine name&gt; </a:t>
            </a:r>
            <a:r>
              <a:rPr lang="en-US" sz="2400" b="1" i="1" dirty="0" err="1" smtClean="0">
                <a:solidFill>
                  <a:schemeClr val="bg1"/>
                </a:solidFill>
              </a:rPr>
              <a:t>dumpvmcore</a:t>
            </a:r>
            <a:r>
              <a:rPr lang="en-US" sz="2400" b="1" i="1" dirty="0" smtClean="0">
                <a:solidFill>
                  <a:schemeClr val="bg1"/>
                </a:solidFill>
              </a:rPr>
              <a:t> --filename=&lt;filename&gt;.elf</a:t>
            </a:r>
            <a:endParaRPr lang="en-US" sz="2400" b="1" i="1" dirty="0">
              <a:solidFill>
                <a:schemeClr val="bg1"/>
              </a:solidFill>
            </a:endParaRPr>
          </a:p>
        </p:txBody>
      </p:sp>
      <p:sp>
        <p:nvSpPr>
          <p:cNvPr id="4" name="TextBox 3"/>
          <p:cNvSpPr txBox="1"/>
          <p:nvPr/>
        </p:nvSpPr>
        <p:spPr>
          <a:xfrm>
            <a:off x="46008" y="1892855"/>
            <a:ext cx="2849592" cy="830997"/>
          </a:xfrm>
          <a:prstGeom prst="rect">
            <a:avLst/>
          </a:prstGeom>
          <a:noFill/>
        </p:spPr>
        <p:txBody>
          <a:bodyPr wrap="square" rtlCol="0">
            <a:spAutoFit/>
          </a:bodyPr>
          <a:lstStyle/>
          <a:p>
            <a:pPr algn="ctr"/>
            <a:r>
              <a:rPr lang="en-US" sz="2400" b="1" dirty="0" smtClean="0">
                <a:solidFill>
                  <a:schemeClr val="bg1"/>
                </a:solidFill>
              </a:rPr>
              <a:t>COMMAND USED TO CREATE A DUMP:</a:t>
            </a:r>
            <a:endParaRPr lang="en-US" sz="2400" b="1" dirty="0">
              <a:solidFill>
                <a:schemeClr val="bg1"/>
              </a:solidFill>
            </a:endParaRPr>
          </a:p>
        </p:txBody>
      </p:sp>
      <p:sp>
        <p:nvSpPr>
          <p:cNvPr id="5" name="TextBox 4"/>
          <p:cNvSpPr txBox="1"/>
          <p:nvPr/>
        </p:nvSpPr>
        <p:spPr>
          <a:xfrm>
            <a:off x="51758" y="3352800"/>
            <a:ext cx="3072442" cy="1200329"/>
          </a:xfrm>
          <a:prstGeom prst="rect">
            <a:avLst/>
          </a:prstGeom>
          <a:noFill/>
        </p:spPr>
        <p:txBody>
          <a:bodyPr wrap="square" rtlCol="0">
            <a:spAutoFit/>
          </a:bodyPr>
          <a:lstStyle/>
          <a:p>
            <a:pPr algn="ctr"/>
            <a:r>
              <a:rPr lang="en-US" sz="2400" b="1" dirty="0" smtClean="0">
                <a:solidFill>
                  <a:schemeClr val="bg1"/>
                </a:solidFill>
              </a:rPr>
              <a:t>CREATING A RAM DUMP USING VOLATILITY:- </a:t>
            </a:r>
            <a:endParaRPr lang="en-US" sz="2400" b="1" dirty="0">
              <a:solidFill>
                <a:schemeClr val="bg1"/>
              </a:solidFill>
            </a:endParaRPr>
          </a:p>
        </p:txBody>
      </p:sp>
      <p:sp>
        <p:nvSpPr>
          <p:cNvPr id="6" name="Rectangle 5"/>
          <p:cNvSpPr/>
          <p:nvPr/>
        </p:nvSpPr>
        <p:spPr>
          <a:xfrm>
            <a:off x="3429000" y="3340488"/>
            <a:ext cx="5715000" cy="1200329"/>
          </a:xfrm>
          <a:prstGeom prst="rect">
            <a:avLst/>
          </a:prstGeom>
        </p:spPr>
        <p:txBody>
          <a:bodyPr wrap="square">
            <a:spAutoFit/>
          </a:bodyPr>
          <a:lstStyle/>
          <a:p>
            <a:pPr algn="ctr"/>
            <a:r>
              <a:rPr lang="en-US" sz="2400" i="1" dirty="0" err="1">
                <a:solidFill>
                  <a:schemeClr val="bg1"/>
                </a:solidFill>
              </a:rPr>
              <a:t>subprocess.run</a:t>
            </a:r>
            <a:r>
              <a:rPr lang="en-US" sz="2400" i="1" dirty="0">
                <a:solidFill>
                  <a:schemeClr val="bg1"/>
                </a:solidFill>
              </a:rPr>
              <a:t>('vol.py -f ' + </a:t>
            </a:r>
            <a:r>
              <a:rPr lang="en-US" sz="2400" i="1" dirty="0" err="1">
                <a:solidFill>
                  <a:schemeClr val="bg1"/>
                </a:solidFill>
              </a:rPr>
              <a:t>sub_dir</a:t>
            </a:r>
            <a:r>
              <a:rPr lang="en-US" sz="2400" i="1" dirty="0">
                <a:solidFill>
                  <a:schemeClr val="bg1"/>
                </a:solidFill>
              </a:rPr>
              <a:t>[z] + '/' + </a:t>
            </a:r>
            <a:r>
              <a:rPr lang="en-US" sz="2400" i="1" dirty="0" err="1">
                <a:solidFill>
                  <a:schemeClr val="bg1"/>
                </a:solidFill>
              </a:rPr>
              <a:t>file_name</a:t>
            </a:r>
            <a:r>
              <a:rPr lang="en-US" sz="2400" i="1" dirty="0">
                <a:solidFill>
                  <a:schemeClr val="bg1"/>
                </a:solidFill>
              </a:rPr>
              <a:t>[z] + '  </a:t>
            </a:r>
            <a:r>
              <a:rPr lang="en-US" sz="2400" i="1" dirty="0" err="1">
                <a:solidFill>
                  <a:schemeClr val="bg1"/>
                </a:solidFill>
              </a:rPr>
              <a:t>imagecopy</a:t>
            </a:r>
            <a:r>
              <a:rPr lang="en-US" sz="2400" i="1" dirty="0">
                <a:solidFill>
                  <a:schemeClr val="bg1"/>
                </a:solidFill>
              </a:rPr>
              <a:t> -O ./' + </a:t>
            </a:r>
            <a:r>
              <a:rPr lang="en-US" sz="2400" i="1" dirty="0" err="1">
                <a:solidFill>
                  <a:schemeClr val="bg1"/>
                </a:solidFill>
              </a:rPr>
              <a:t>file_name</a:t>
            </a:r>
            <a:r>
              <a:rPr lang="en-US" sz="2400" i="1" dirty="0">
                <a:solidFill>
                  <a:schemeClr val="bg1"/>
                </a:solidFill>
              </a:rPr>
              <a:t>[z].split('.')[0] + '.raw', shell=True)</a:t>
            </a:r>
            <a:endParaRPr lang="en-US" sz="2400" b="1" dirty="0">
              <a:solidFill>
                <a:schemeClr val="bg1"/>
              </a:solidFill>
            </a:endParaRPr>
          </a:p>
        </p:txBody>
      </p:sp>
    </p:spTree>
    <p:extLst>
      <p:ext uri="{BB962C8B-B14F-4D97-AF65-F5344CB8AC3E}">
        <p14:creationId xmlns:p14="http://schemas.microsoft.com/office/powerpoint/2010/main" val="18161529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4032" y="43934"/>
            <a:ext cx="3776868" cy="646331"/>
          </a:xfrm>
          <a:prstGeom prst="rect">
            <a:avLst/>
          </a:prstGeom>
        </p:spPr>
        <p:txBody>
          <a:bodyPr wrap="none">
            <a:spAutoFit/>
          </a:bodyPr>
          <a:lstStyle/>
          <a:p>
            <a:r>
              <a:rPr lang="en-US" sz="3600" dirty="0">
                <a:solidFill>
                  <a:srgbClr val="FF0000"/>
                </a:solidFill>
                <a:latin typeface="+mj-lt"/>
                <a:ea typeface="+mj-ea"/>
                <a:cs typeface="+mj-cs"/>
              </a:rPr>
              <a:t>MEMORY</a:t>
            </a:r>
            <a:r>
              <a:rPr lang="en-US" dirty="0" smtClean="0">
                <a:solidFill>
                  <a:srgbClr val="FF0000"/>
                </a:solidFill>
              </a:rPr>
              <a:t> </a:t>
            </a:r>
            <a:r>
              <a:rPr lang="en-US" sz="3600" dirty="0">
                <a:solidFill>
                  <a:srgbClr val="FF0000"/>
                </a:solidFill>
                <a:latin typeface="+mj-lt"/>
                <a:ea typeface="+mj-ea"/>
                <a:cs typeface="+mj-cs"/>
              </a:rPr>
              <a:t>ANALYSIS</a:t>
            </a:r>
          </a:p>
        </p:txBody>
      </p:sp>
      <p:pic>
        <p:nvPicPr>
          <p:cNvPr id="4" name="Picture 3"/>
          <p:cNvPicPr/>
          <p:nvPr/>
        </p:nvPicPr>
        <p:blipFill>
          <a:blip r:embed="rId2"/>
          <a:stretch>
            <a:fillRect/>
          </a:stretch>
        </p:blipFill>
        <p:spPr>
          <a:xfrm>
            <a:off x="0" y="3822700"/>
            <a:ext cx="4699635" cy="1739900"/>
          </a:xfrm>
          <a:prstGeom prst="rect">
            <a:avLst/>
          </a:prstGeom>
        </p:spPr>
      </p:pic>
      <p:sp>
        <p:nvSpPr>
          <p:cNvPr id="5" name="Rectangle 4"/>
          <p:cNvSpPr/>
          <p:nvPr/>
        </p:nvSpPr>
        <p:spPr>
          <a:xfrm>
            <a:off x="25879" y="5562600"/>
            <a:ext cx="4622321" cy="646331"/>
          </a:xfrm>
          <a:prstGeom prst="rect">
            <a:avLst/>
          </a:prstGeom>
        </p:spPr>
        <p:txBody>
          <a:bodyPr wrap="square">
            <a:spAutoFit/>
          </a:bodyPr>
          <a:lstStyle/>
          <a:p>
            <a:pPr algn="ctr"/>
            <a:r>
              <a:rPr lang="en-US" dirty="0">
                <a:solidFill>
                  <a:schemeClr val="bg1"/>
                </a:solidFill>
              </a:rPr>
              <a:t>Fig: - Identifying Build profile of the Memory </a:t>
            </a:r>
            <a:r>
              <a:rPr lang="en-US" dirty="0" smtClean="0">
                <a:solidFill>
                  <a:schemeClr val="bg1"/>
                </a:solidFill>
              </a:rPr>
              <a:t>Dump with </a:t>
            </a:r>
            <a:r>
              <a:rPr lang="en-US" dirty="0" err="1" smtClean="0">
                <a:solidFill>
                  <a:schemeClr val="bg1"/>
                </a:solidFill>
              </a:rPr>
              <a:t>imageinfo</a:t>
            </a:r>
            <a:endParaRPr lang="en-US" dirty="0">
              <a:solidFill>
                <a:schemeClr val="bg1"/>
              </a:solidFill>
            </a:endParaRPr>
          </a:p>
        </p:txBody>
      </p:sp>
      <p:pic>
        <p:nvPicPr>
          <p:cNvPr id="6" name="Picture 5"/>
          <p:cNvPicPr/>
          <p:nvPr/>
        </p:nvPicPr>
        <p:blipFill>
          <a:blip r:embed="rId3"/>
          <a:stretch>
            <a:fillRect/>
          </a:stretch>
        </p:blipFill>
        <p:spPr>
          <a:xfrm>
            <a:off x="4699635" y="690265"/>
            <a:ext cx="4444365" cy="5512628"/>
          </a:xfrm>
          <a:prstGeom prst="rect">
            <a:avLst/>
          </a:prstGeom>
        </p:spPr>
      </p:pic>
      <p:sp>
        <p:nvSpPr>
          <p:cNvPr id="7" name="Rectangle 6"/>
          <p:cNvSpPr/>
          <p:nvPr/>
        </p:nvSpPr>
        <p:spPr>
          <a:xfrm>
            <a:off x="4501551" y="6208931"/>
            <a:ext cx="4622321" cy="369332"/>
          </a:xfrm>
          <a:prstGeom prst="rect">
            <a:avLst/>
          </a:prstGeom>
        </p:spPr>
        <p:txBody>
          <a:bodyPr wrap="square">
            <a:spAutoFit/>
          </a:bodyPr>
          <a:lstStyle/>
          <a:p>
            <a:pPr algn="ctr"/>
            <a:r>
              <a:rPr lang="en-US" dirty="0">
                <a:solidFill>
                  <a:schemeClr val="bg1"/>
                </a:solidFill>
              </a:rPr>
              <a:t>Fig:- </a:t>
            </a:r>
            <a:r>
              <a:rPr lang="en-US" dirty="0" smtClean="0">
                <a:solidFill>
                  <a:schemeClr val="bg1"/>
                </a:solidFill>
              </a:rPr>
              <a:t>Yarascan </a:t>
            </a:r>
            <a:r>
              <a:rPr lang="en-US" dirty="0">
                <a:solidFill>
                  <a:schemeClr val="bg1"/>
                </a:solidFill>
              </a:rPr>
              <a:t>Result using Volatility</a:t>
            </a:r>
          </a:p>
        </p:txBody>
      </p:sp>
      <p:sp>
        <p:nvSpPr>
          <p:cNvPr id="9" name="Rectangle 8"/>
          <p:cNvSpPr/>
          <p:nvPr/>
        </p:nvSpPr>
        <p:spPr>
          <a:xfrm>
            <a:off x="51039" y="1066800"/>
            <a:ext cx="4572000" cy="2862322"/>
          </a:xfrm>
          <a:prstGeom prst="rect">
            <a:avLst/>
          </a:prstGeom>
        </p:spPr>
        <p:txBody>
          <a:bodyPr>
            <a:spAutoFit/>
          </a:bodyPr>
          <a:lstStyle/>
          <a:p>
            <a:r>
              <a:rPr lang="en-US" dirty="0">
                <a:solidFill>
                  <a:schemeClr val="bg1"/>
                </a:solidFill>
              </a:rPr>
              <a:t>To analyze memory dumps use of Volatility (memory forensics tool) is required. It is used to extract all crucial information about the systems. In our project, the following </a:t>
            </a:r>
            <a:r>
              <a:rPr lang="en-US" dirty="0" smtClean="0">
                <a:solidFill>
                  <a:schemeClr val="bg1"/>
                </a:solidFill>
              </a:rPr>
              <a:t>commands were </a:t>
            </a:r>
            <a:r>
              <a:rPr lang="en-US" dirty="0">
                <a:solidFill>
                  <a:schemeClr val="bg1"/>
                </a:solidFill>
              </a:rPr>
              <a:t>used to analyze </a:t>
            </a:r>
            <a:r>
              <a:rPr lang="en-US" dirty="0" smtClean="0">
                <a:solidFill>
                  <a:schemeClr val="bg1"/>
                </a:solidFill>
              </a:rPr>
              <a:t>memory:</a:t>
            </a:r>
          </a:p>
          <a:p>
            <a:pPr marL="342900" indent="-342900">
              <a:buAutoNum type="arabicPeriod"/>
            </a:pPr>
            <a:r>
              <a:rPr lang="en-US" dirty="0" err="1" smtClean="0">
                <a:solidFill>
                  <a:schemeClr val="bg1"/>
                </a:solidFill>
              </a:rPr>
              <a:t>imageinfo</a:t>
            </a:r>
            <a:endParaRPr lang="en-US" dirty="0" smtClean="0">
              <a:solidFill>
                <a:schemeClr val="bg1"/>
              </a:solidFill>
            </a:endParaRPr>
          </a:p>
          <a:p>
            <a:pPr marL="342900" indent="-342900">
              <a:buAutoNum type="arabicPeriod"/>
            </a:pPr>
            <a:r>
              <a:rPr lang="en-US" dirty="0" err="1">
                <a:solidFill>
                  <a:schemeClr val="bg1"/>
                </a:solidFill>
              </a:rPr>
              <a:t>p</a:t>
            </a:r>
            <a:r>
              <a:rPr lang="en-US" dirty="0" err="1" smtClean="0">
                <a:solidFill>
                  <a:schemeClr val="bg1"/>
                </a:solidFill>
              </a:rPr>
              <a:t>slist</a:t>
            </a:r>
            <a:r>
              <a:rPr lang="en-US" dirty="0" smtClean="0">
                <a:solidFill>
                  <a:schemeClr val="bg1"/>
                </a:solidFill>
              </a:rPr>
              <a:t>, </a:t>
            </a:r>
            <a:r>
              <a:rPr lang="en-US" dirty="0" err="1">
                <a:solidFill>
                  <a:schemeClr val="bg1"/>
                </a:solidFill>
              </a:rPr>
              <a:t>p</a:t>
            </a:r>
            <a:r>
              <a:rPr lang="en-US" dirty="0" err="1" smtClean="0">
                <a:solidFill>
                  <a:schemeClr val="bg1"/>
                </a:solidFill>
              </a:rPr>
              <a:t>scan</a:t>
            </a:r>
            <a:endParaRPr lang="en-US" dirty="0" smtClean="0">
              <a:solidFill>
                <a:schemeClr val="bg1"/>
              </a:solidFill>
            </a:endParaRPr>
          </a:p>
          <a:p>
            <a:pPr marL="342900" indent="-342900">
              <a:buAutoNum type="arabicPeriod"/>
            </a:pPr>
            <a:r>
              <a:rPr lang="en-US" dirty="0" err="1" smtClean="0">
                <a:solidFill>
                  <a:schemeClr val="bg1"/>
                </a:solidFill>
              </a:rPr>
              <a:t>yarascan</a:t>
            </a:r>
            <a:endParaRPr lang="en-US" dirty="0" smtClean="0">
              <a:solidFill>
                <a:schemeClr val="bg1"/>
              </a:solidFill>
            </a:endParaRPr>
          </a:p>
          <a:p>
            <a:pPr marL="342900" indent="-342900">
              <a:buAutoNum type="arabicPeriod"/>
            </a:pPr>
            <a:endParaRPr lang="en-US" dirty="0" smtClean="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21404254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76200" y="152400"/>
            <a:ext cx="4300268" cy="11430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3600" dirty="0">
              <a:solidFill>
                <a:srgbClr val="FF0000"/>
              </a:solidFill>
            </a:endParaRPr>
          </a:p>
        </p:txBody>
      </p:sp>
      <p:pic>
        <p:nvPicPr>
          <p:cNvPr id="3" name="Picture 2" descr="C:\Users\vedaa\Downloads\YARA_SIGNATURES_DATASET (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3318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76200" y="152400"/>
            <a:ext cx="8991600" cy="11430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FF0000"/>
                </a:solidFill>
              </a:rPr>
              <a:t>USING MACHINE LEARNING AND DEEP LEARNING TECHNIQUES</a:t>
            </a: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19" y="2898475"/>
            <a:ext cx="482360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7253" y="6400800"/>
            <a:ext cx="4495800" cy="369332"/>
          </a:xfrm>
          <a:prstGeom prst="rect">
            <a:avLst/>
          </a:prstGeom>
          <a:noFill/>
        </p:spPr>
        <p:txBody>
          <a:bodyPr wrap="square" rtlCol="0">
            <a:spAutoFit/>
          </a:bodyPr>
          <a:lstStyle/>
          <a:p>
            <a:pPr algn="ctr"/>
            <a:r>
              <a:rPr lang="en-US" dirty="0" smtClean="0">
                <a:solidFill>
                  <a:schemeClr val="bg1"/>
                </a:solidFill>
              </a:rPr>
              <a:t>Fig:- Screenshot of Dataset</a:t>
            </a:r>
            <a:endParaRPr lang="en-US" dirty="0">
              <a:solidFill>
                <a:schemeClr val="bg1"/>
              </a:solidFill>
            </a:endParaRPr>
          </a:p>
        </p:txBody>
      </p:sp>
      <p:sp>
        <p:nvSpPr>
          <p:cNvPr id="9" name="Rectangle 8"/>
          <p:cNvSpPr/>
          <p:nvPr/>
        </p:nvSpPr>
        <p:spPr>
          <a:xfrm>
            <a:off x="1438" y="1447800"/>
            <a:ext cx="4783346" cy="1323439"/>
          </a:xfrm>
          <a:prstGeom prst="rect">
            <a:avLst/>
          </a:prstGeom>
        </p:spPr>
        <p:txBody>
          <a:bodyPr wrap="square">
            <a:spAutoFit/>
          </a:bodyPr>
          <a:lstStyle/>
          <a:p>
            <a:pPr algn="ctr"/>
            <a:r>
              <a:rPr lang="en-US" sz="2000" dirty="0" smtClean="0">
                <a:solidFill>
                  <a:schemeClr val="bg1"/>
                </a:solidFill>
              </a:rPr>
              <a:t>After extracting the memory values, from RAM and matching them with pre existing signatures of YARA Rules, the dataset was as follow:</a:t>
            </a:r>
            <a:endParaRPr lang="en-US" sz="2000" dirty="0">
              <a:solidFill>
                <a:schemeClr val="bg1"/>
              </a:solidFill>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3475" y="1676400"/>
            <a:ext cx="4343400" cy="4536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4619445" y="6346166"/>
            <a:ext cx="4495800" cy="646331"/>
          </a:xfrm>
          <a:prstGeom prst="rect">
            <a:avLst/>
          </a:prstGeom>
          <a:noFill/>
        </p:spPr>
        <p:txBody>
          <a:bodyPr wrap="square" rtlCol="0">
            <a:spAutoFit/>
          </a:bodyPr>
          <a:lstStyle/>
          <a:p>
            <a:pPr algn="ctr"/>
            <a:r>
              <a:rPr lang="en-US" dirty="0" smtClean="0">
                <a:solidFill>
                  <a:schemeClr val="bg1"/>
                </a:solidFill>
              </a:rPr>
              <a:t>Fig:- YARA Rules Signatures match</a:t>
            </a:r>
          </a:p>
          <a:p>
            <a:pPr algn="ctr"/>
            <a:endParaRPr lang="en-US" dirty="0">
              <a:solidFill>
                <a:schemeClr val="bg1"/>
              </a:solidFill>
            </a:endParaRPr>
          </a:p>
        </p:txBody>
      </p:sp>
    </p:spTree>
    <p:extLst>
      <p:ext uri="{BB962C8B-B14F-4D97-AF65-F5344CB8AC3E}">
        <p14:creationId xmlns:p14="http://schemas.microsoft.com/office/powerpoint/2010/main" val="37518958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0"/>
            <a:ext cx="4534791"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4793" y="1"/>
            <a:ext cx="4609207"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505201"/>
            <a:ext cx="5714998" cy="335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0190" y="3962400"/>
            <a:ext cx="1782790" cy="646331"/>
          </a:xfrm>
          <a:prstGeom prst="rect">
            <a:avLst/>
          </a:prstGeom>
          <a:noFill/>
        </p:spPr>
        <p:txBody>
          <a:bodyPr wrap="square" rtlCol="0">
            <a:spAutoFit/>
          </a:bodyPr>
          <a:lstStyle/>
          <a:p>
            <a:pPr algn="ctr"/>
            <a:r>
              <a:rPr lang="en-US" dirty="0" smtClean="0">
                <a:solidFill>
                  <a:schemeClr val="bg1"/>
                </a:solidFill>
              </a:rPr>
              <a:t>Fig:- Screenshot of PCA Analysis</a:t>
            </a:r>
            <a:endParaRPr lang="en-US" dirty="0">
              <a:solidFill>
                <a:schemeClr val="bg1"/>
              </a:solidFill>
            </a:endParaRPr>
          </a:p>
        </p:txBody>
      </p:sp>
      <p:sp>
        <p:nvSpPr>
          <p:cNvPr id="9" name="TextBox 8"/>
          <p:cNvSpPr txBox="1"/>
          <p:nvPr/>
        </p:nvSpPr>
        <p:spPr>
          <a:xfrm>
            <a:off x="7467598" y="3858608"/>
            <a:ext cx="1676402" cy="923330"/>
          </a:xfrm>
          <a:prstGeom prst="rect">
            <a:avLst/>
          </a:prstGeom>
          <a:noFill/>
        </p:spPr>
        <p:txBody>
          <a:bodyPr wrap="square" rtlCol="0">
            <a:spAutoFit/>
          </a:bodyPr>
          <a:lstStyle/>
          <a:p>
            <a:pPr algn="ctr"/>
            <a:r>
              <a:rPr lang="en-US" dirty="0" smtClean="0">
                <a:solidFill>
                  <a:schemeClr val="bg1"/>
                </a:solidFill>
              </a:rPr>
              <a:t>Fig:- Screenshot of TSNE Analysis</a:t>
            </a:r>
            <a:endParaRPr lang="en-US" dirty="0">
              <a:solidFill>
                <a:schemeClr val="bg1"/>
              </a:solidFill>
            </a:endParaRPr>
          </a:p>
        </p:txBody>
      </p:sp>
      <p:sp>
        <p:nvSpPr>
          <p:cNvPr id="10" name="TextBox 9"/>
          <p:cNvSpPr txBox="1"/>
          <p:nvPr/>
        </p:nvSpPr>
        <p:spPr>
          <a:xfrm>
            <a:off x="-155273" y="5638800"/>
            <a:ext cx="1512498" cy="923330"/>
          </a:xfrm>
          <a:prstGeom prst="rect">
            <a:avLst/>
          </a:prstGeom>
          <a:noFill/>
        </p:spPr>
        <p:txBody>
          <a:bodyPr wrap="square" rtlCol="0">
            <a:spAutoFit/>
          </a:bodyPr>
          <a:lstStyle/>
          <a:p>
            <a:pPr algn="ctr"/>
            <a:r>
              <a:rPr lang="en-US" dirty="0" smtClean="0">
                <a:solidFill>
                  <a:schemeClr val="bg1"/>
                </a:solidFill>
              </a:rPr>
              <a:t>Fig:- Count Plot of final dataset</a:t>
            </a:r>
            <a:endParaRPr lang="en-US" dirty="0">
              <a:solidFill>
                <a:schemeClr val="bg1"/>
              </a:solidFill>
            </a:endParaRPr>
          </a:p>
        </p:txBody>
      </p:sp>
      <p:sp>
        <p:nvSpPr>
          <p:cNvPr id="5" name="Down Arrow 4"/>
          <p:cNvSpPr/>
          <p:nvPr/>
        </p:nvSpPr>
        <p:spPr>
          <a:xfrm rot="10800000">
            <a:off x="756251" y="3581400"/>
            <a:ext cx="310549" cy="3810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rot="10800000">
            <a:off x="8150524" y="3543300"/>
            <a:ext cx="310549" cy="3810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rot="16200000">
            <a:off x="1357225" y="5867400"/>
            <a:ext cx="310549" cy="3810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72611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27316" y="7937"/>
            <a:ext cx="9116684" cy="11430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800" b="1" dirty="0" smtClean="0">
                <a:solidFill>
                  <a:srgbClr val="FF0000"/>
                </a:solidFill>
              </a:rPr>
              <a:t>CONCLUSION-1</a:t>
            </a:r>
            <a:endParaRPr lang="en-US" sz="3800" b="1" dirty="0">
              <a:solidFill>
                <a:srgbClr val="FF0000"/>
              </a:solidFill>
            </a:endParaRPr>
          </a:p>
        </p:txBody>
      </p:sp>
      <p:sp>
        <p:nvSpPr>
          <p:cNvPr id="3" name="AutoShape 5"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7"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9"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1"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3"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p:cNvSpPr txBox="1"/>
          <p:nvPr/>
        </p:nvSpPr>
        <p:spPr>
          <a:xfrm>
            <a:off x="1219200" y="6127630"/>
            <a:ext cx="6161836" cy="369332"/>
          </a:xfrm>
          <a:prstGeom prst="rect">
            <a:avLst/>
          </a:prstGeom>
          <a:noFill/>
        </p:spPr>
        <p:txBody>
          <a:bodyPr wrap="square" rtlCol="0">
            <a:spAutoFit/>
          </a:bodyPr>
          <a:lstStyle/>
          <a:p>
            <a:pPr algn="ctr"/>
            <a:r>
              <a:rPr lang="en-US" dirty="0" smtClean="0">
                <a:solidFill>
                  <a:schemeClr val="bg1"/>
                </a:solidFill>
              </a:rPr>
              <a:t>Fig:- Comparison of Training Scores of Various Algorithms</a:t>
            </a:r>
            <a:endParaRPr lang="en-US" dirty="0">
              <a:solidFill>
                <a:schemeClr val="bg1"/>
              </a:solidFill>
            </a:endParaRPr>
          </a:p>
        </p:txBody>
      </p:sp>
      <p:sp>
        <p:nvSpPr>
          <p:cNvPr id="20" name="Rectangle 19"/>
          <p:cNvSpPr/>
          <p:nvPr/>
        </p:nvSpPr>
        <p:spPr>
          <a:xfrm>
            <a:off x="1438" y="923174"/>
            <a:ext cx="9066362" cy="1015663"/>
          </a:xfrm>
          <a:prstGeom prst="rect">
            <a:avLst/>
          </a:prstGeom>
        </p:spPr>
        <p:txBody>
          <a:bodyPr wrap="square">
            <a:spAutoFit/>
          </a:bodyPr>
          <a:lstStyle/>
          <a:p>
            <a:pPr algn="ctr"/>
            <a:r>
              <a:rPr lang="en-US" sz="2000" dirty="0" smtClean="0">
                <a:solidFill>
                  <a:schemeClr val="bg1"/>
                </a:solidFill>
              </a:rPr>
              <a:t>On Applying Machine Learning, on the memory values the model seems to perform well. It has a high training score because which it should as it needs to remember all the values of the malwares given to it.</a:t>
            </a:r>
            <a:endParaRPr lang="en-US" sz="2000" dirty="0">
              <a:solidFill>
                <a:schemeClr val="bg1"/>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2286000"/>
            <a:ext cx="3779182"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0118" y="2257818"/>
            <a:ext cx="4267201" cy="3685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4348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43154" y="6248400"/>
            <a:ext cx="7162800" cy="369332"/>
          </a:xfrm>
          <a:prstGeom prst="rect">
            <a:avLst/>
          </a:prstGeom>
          <a:noFill/>
        </p:spPr>
        <p:txBody>
          <a:bodyPr wrap="square" rtlCol="0">
            <a:spAutoFit/>
          </a:bodyPr>
          <a:lstStyle/>
          <a:p>
            <a:pPr algn="ctr"/>
            <a:r>
              <a:rPr lang="en-US" dirty="0">
                <a:solidFill>
                  <a:schemeClr val="bg1"/>
                </a:solidFill>
              </a:rPr>
              <a:t>Fig:- Comparison of </a:t>
            </a:r>
            <a:r>
              <a:rPr lang="en-US" dirty="0" smtClean="0">
                <a:solidFill>
                  <a:schemeClr val="bg1"/>
                </a:solidFill>
              </a:rPr>
              <a:t>Testing </a:t>
            </a:r>
            <a:r>
              <a:rPr lang="en-US" dirty="0">
                <a:solidFill>
                  <a:schemeClr val="bg1"/>
                </a:solidFill>
              </a:rPr>
              <a:t>Scores of Various Algorithms</a:t>
            </a:r>
          </a:p>
        </p:txBody>
      </p:sp>
      <p:sp>
        <p:nvSpPr>
          <p:cNvPr id="6" name="Title 2"/>
          <p:cNvSpPr txBox="1">
            <a:spLocks/>
          </p:cNvSpPr>
          <p:nvPr/>
        </p:nvSpPr>
        <p:spPr>
          <a:xfrm>
            <a:off x="27316" y="7937"/>
            <a:ext cx="9116684" cy="11430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800" b="1" dirty="0" smtClean="0">
                <a:solidFill>
                  <a:srgbClr val="FF0000"/>
                </a:solidFill>
              </a:rPr>
              <a:t>CONCLUSION-2</a:t>
            </a:r>
            <a:endParaRPr lang="en-US" sz="3800" b="1" dirty="0">
              <a:solidFill>
                <a:srgbClr val="FF0000"/>
              </a:solidFill>
            </a:endParaRPr>
          </a:p>
        </p:txBody>
      </p:sp>
      <p:sp>
        <p:nvSpPr>
          <p:cNvPr id="7" name="Rectangle 6"/>
          <p:cNvSpPr/>
          <p:nvPr/>
        </p:nvSpPr>
        <p:spPr>
          <a:xfrm>
            <a:off x="1438" y="923174"/>
            <a:ext cx="9066362" cy="1323439"/>
          </a:xfrm>
          <a:prstGeom prst="rect">
            <a:avLst/>
          </a:prstGeom>
        </p:spPr>
        <p:txBody>
          <a:bodyPr wrap="square">
            <a:spAutoFit/>
          </a:bodyPr>
          <a:lstStyle/>
          <a:p>
            <a:pPr algn="ctr"/>
            <a:r>
              <a:rPr lang="en-US" sz="2000" dirty="0" smtClean="0">
                <a:solidFill>
                  <a:schemeClr val="bg1"/>
                </a:solidFill>
              </a:rPr>
              <a:t>On Applying Machine Learning, on the memory values the model seems to perform well. It has an average training score and is able to predict the new malwares from the previously learnt malwares. The dataset needs to be increased for it to have a higher accuracy.</a:t>
            </a:r>
            <a:endParaRPr lang="en-US" sz="2000" dirty="0">
              <a:solidFill>
                <a:schemeClr val="bg1"/>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16" y="2514600"/>
            <a:ext cx="3858884" cy="358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2514599"/>
            <a:ext cx="4343400" cy="360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75629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95600" y="194965"/>
            <a:ext cx="6172200" cy="923330"/>
          </a:xfrm>
          <a:prstGeom prst="rect">
            <a:avLst/>
          </a:prstGeom>
          <a:noFill/>
        </p:spPr>
        <p:txBody>
          <a:bodyPr wrap="square" rtlCol="0">
            <a:spAutoFit/>
          </a:bodyPr>
          <a:lstStyle/>
          <a:p>
            <a:r>
              <a:rPr lang="en-US" dirty="0" smtClean="0">
                <a:solidFill>
                  <a:schemeClr val="bg1"/>
                </a:solidFill>
              </a:rPr>
              <a:t>Implementing Static Malware Analysis and using a Dataset which holds the PE Header Values of the executable and finding the pattern in them.</a:t>
            </a:r>
            <a:endParaRPr lang="en-US" dirty="0">
              <a:solidFill>
                <a:schemeClr val="bg1"/>
              </a:solidFill>
            </a:endParaRPr>
          </a:p>
        </p:txBody>
      </p:sp>
      <p:sp>
        <p:nvSpPr>
          <p:cNvPr id="5" name="Title 3"/>
          <p:cNvSpPr txBox="1">
            <a:spLocks/>
          </p:cNvSpPr>
          <p:nvPr/>
        </p:nvSpPr>
        <p:spPr>
          <a:xfrm>
            <a:off x="-762000" y="194965"/>
            <a:ext cx="44196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dirty="0" smtClean="0">
                <a:solidFill>
                  <a:srgbClr val="FF0000"/>
                </a:solidFill>
              </a:rPr>
              <a:t>ADDITIONAL</a:t>
            </a:r>
          </a:p>
          <a:p>
            <a:r>
              <a:rPr lang="en-US" sz="3200" dirty="0" smtClean="0">
                <a:solidFill>
                  <a:srgbClr val="FF0000"/>
                </a:solidFill>
              </a:rPr>
              <a:t>TECHNIQUES</a:t>
            </a:r>
            <a:endParaRPr lang="en-US" sz="32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006" y="1223816"/>
            <a:ext cx="5564694" cy="2599333"/>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0" y="4347893"/>
            <a:ext cx="5105400" cy="1771650"/>
          </a:xfrm>
          <a:prstGeom prst="rect">
            <a:avLst/>
          </a:prstGeom>
        </p:spPr>
      </p:pic>
      <p:sp>
        <p:nvSpPr>
          <p:cNvPr id="8" name="TextBox 7"/>
          <p:cNvSpPr txBox="1"/>
          <p:nvPr/>
        </p:nvSpPr>
        <p:spPr>
          <a:xfrm>
            <a:off x="533400" y="3860530"/>
            <a:ext cx="5029200" cy="369332"/>
          </a:xfrm>
          <a:prstGeom prst="rect">
            <a:avLst/>
          </a:prstGeom>
          <a:noFill/>
        </p:spPr>
        <p:txBody>
          <a:bodyPr wrap="square" rtlCol="0">
            <a:spAutoFit/>
          </a:bodyPr>
          <a:lstStyle/>
          <a:p>
            <a:pPr algn="ctr"/>
            <a:r>
              <a:rPr lang="en-US" dirty="0" smtClean="0">
                <a:solidFill>
                  <a:schemeClr val="bg1"/>
                </a:solidFill>
              </a:rPr>
              <a:t>Fig:- Screenshot of Code</a:t>
            </a:r>
            <a:endParaRPr lang="en-US" dirty="0">
              <a:solidFill>
                <a:schemeClr val="bg1"/>
              </a:solidFill>
            </a:endParaRPr>
          </a:p>
        </p:txBody>
      </p:sp>
      <p:sp>
        <p:nvSpPr>
          <p:cNvPr id="9" name="TextBox 8"/>
          <p:cNvSpPr txBox="1"/>
          <p:nvPr/>
        </p:nvSpPr>
        <p:spPr>
          <a:xfrm>
            <a:off x="3695700" y="6172200"/>
            <a:ext cx="5029200" cy="369332"/>
          </a:xfrm>
          <a:prstGeom prst="rect">
            <a:avLst/>
          </a:prstGeom>
          <a:noFill/>
        </p:spPr>
        <p:txBody>
          <a:bodyPr wrap="square" rtlCol="0">
            <a:spAutoFit/>
          </a:bodyPr>
          <a:lstStyle/>
          <a:p>
            <a:pPr algn="ctr"/>
            <a:r>
              <a:rPr lang="en-US" dirty="0" smtClean="0">
                <a:solidFill>
                  <a:schemeClr val="bg1"/>
                </a:solidFill>
              </a:rPr>
              <a:t>Fig:- Screenshot of Output</a:t>
            </a:r>
            <a:endParaRPr lang="en-US" dirty="0">
              <a:solidFill>
                <a:schemeClr val="bg1"/>
              </a:solidFill>
            </a:endParaRPr>
          </a:p>
        </p:txBody>
      </p:sp>
    </p:spTree>
    <p:extLst>
      <p:ext uri="{BB962C8B-B14F-4D97-AF65-F5344CB8AC3E}">
        <p14:creationId xmlns:p14="http://schemas.microsoft.com/office/powerpoint/2010/main" val="1627224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2286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smtClean="0">
                <a:solidFill>
                  <a:srgbClr val="FF0000"/>
                </a:solidFill>
              </a:rPr>
              <a:t>ADDITIONAL TASKS DONE</a:t>
            </a:r>
            <a:endParaRPr lang="en-US" dirty="0"/>
          </a:p>
        </p:txBody>
      </p:sp>
      <p:sp>
        <p:nvSpPr>
          <p:cNvPr id="5" name="Content Placeholder 3"/>
          <p:cNvSpPr txBox="1">
            <a:spLocks/>
          </p:cNvSpPr>
          <p:nvPr/>
        </p:nvSpPr>
        <p:spPr>
          <a:xfrm>
            <a:off x="76200" y="1295400"/>
            <a:ext cx="6172200" cy="58674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solidFill>
                  <a:schemeClr val="bg1"/>
                </a:solidFill>
              </a:rPr>
              <a:t>Assembled a dataset of more than 65000+ malware samples of different classes such as Ransom-ware, Trojans, RAT, Droppers etc.</a:t>
            </a:r>
          </a:p>
          <a:p>
            <a:r>
              <a:rPr lang="en-US" sz="2400" dirty="0" smtClean="0">
                <a:solidFill>
                  <a:schemeClr val="bg1"/>
                </a:solidFill>
              </a:rPr>
              <a:t>Studying existing techniques that are implemented  to classify files as benign or malwares using deep and machine learning incorporating both static and dynamic analysis</a:t>
            </a:r>
          </a:p>
          <a:p>
            <a:r>
              <a:rPr lang="en-US" sz="2400" dirty="0" smtClean="0">
                <a:solidFill>
                  <a:schemeClr val="bg1"/>
                </a:solidFill>
              </a:rPr>
              <a:t>Studying classic techniques that are being used to detect malwares and how antiviruses work.</a:t>
            </a:r>
          </a:p>
          <a:p>
            <a:r>
              <a:rPr lang="en-US" sz="2400" dirty="0">
                <a:solidFill>
                  <a:schemeClr val="bg1"/>
                </a:solidFill>
              </a:rPr>
              <a:t>Implementing Static Malware Analysis and extracting the memory hex dump of the executable, then find patterns within them using Machine and Deep Learning.</a:t>
            </a:r>
          </a:p>
          <a:p>
            <a:r>
              <a:rPr lang="en-US" sz="2400" dirty="0">
                <a:solidFill>
                  <a:schemeClr val="bg1"/>
                </a:solidFill>
              </a:rPr>
              <a:t>Implementing Static Malware Analysis by extracting strings from malwares and building a classifier using Natural Language Processing and Machine Learning Algorithms.</a:t>
            </a:r>
          </a:p>
          <a:p>
            <a:endParaRPr lang="en-US" sz="2400" dirty="0" smtClean="0">
              <a:solidFill>
                <a:schemeClr val="bg1"/>
              </a:solidFill>
            </a:endParaRPr>
          </a:p>
          <a:p>
            <a:pPr marL="0" indent="0">
              <a:buFont typeface="Arial" pitchFamily="34" charset="0"/>
              <a:buNone/>
            </a:pPr>
            <a:endParaRPr lang="en-US" sz="24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799" y="76200"/>
            <a:ext cx="2268187" cy="5745079"/>
          </a:xfrm>
          <a:prstGeom prst="rect">
            <a:avLst/>
          </a:prstGeom>
        </p:spPr>
      </p:pic>
      <p:sp>
        <p:nvSpPr>
          <p:cNvPr id="7" name="TextBox 6"/>
          <p:cNvSpPr txBox="1"/>
          <p:nvPr/>
        </p:nvSpPr>
        <p:spPr>
          <a:xfrm>
            <a:off x="6477000" y="5943600"/>
            <a:ext cx="2658374" cy="646331"/>
          </a:xfrm>
          <a:prstGeom prst="rect">
            <a:avLst/>
          </a:prstGeom>
          <a:noFill/>
        </p:spPr>
        <p:txBody>
          <a:bodyPr wrap="square" rtlCol="0">
            <a:spAutoFit/>
          </a:bodyPr>
          <a:lstStyle/>
          <a:p>
            <a:pPr algn="ctr"/>
            <a:r>
              <a:rPr lang="en-US" dirty="0" smtClean="0">
                <a:solidFill>
                  <a:schemeClr val="bg1"/>
                </a:solidFill>
              </a:rPr>
              <a:t>Fig:- Assembled Malware Collection </a:t>
            </a:r>
            <a:endParaRPr lang="en-US" dirty="0">
              <a:solidFill>
                <a:schemeClr val="bg1"/>
              </a:solidFill>
            </a:endParaRPr>
          </a:p>
        </p:txBody>
      </p:sp>
    </p:spTree>
    <p:extLst>
      <p:ext uri="{BB962C8B-B14F-4D97-AF65-F5344CB8AC3E}">
        <p14:creationId xmlns:p14="http://schemas.microsoft.com/office/powerpoint/2010/main" val="29440797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smtClean="0">
                <a:solidFill>
                  <a:schemeClr val="bg1"/>
                </a:solidFill>
              </a:rPr>
              <a:t>THANK YOU</a:t>
            </a:r>
            <a:endParaRPr lang="en-US" dirty="0">
              <a:solidFill>
                <a:schemeClr val="bg1"/>
              </a:solidFill>
            </a:endParaRPr>
          </a:p>
        </p:txBody>
      </p:sp>
      <p:sp>
        <p:nvSpPr>
          <p:cNvPr id="5" name="Subtitle 3"/>
          <p:cNvSpPr txBox="1">
            <a:spLocks/>
          </p:cNvSpPr>
          <p:nvPr/>
        </p:nvSpPr>
        <p:spPr>
          <a:xfrm>
            <a:off x="3810000" y="4724400"/>
            <a:ext cx="51816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mtClean="0">
                <a:solidFill>
                  <a:schemeClr val="bg1"/>
                </a:solidFill>
              </a:rPr>
              <a:t>Presented By:- </a:t>
            </a:r>
          </a:p>
          <a:p>
            <a:pPr algn="r"/>
            <a:r>
              <a:rPr lang="en-US" smtClean="0">
                <a:solidFill>
                  <a:schemeClr val="bg1"/>
                </a:solidFill>
              </a:rPr>
              <a:t>Vedaang Chopra</a:t>
            </a:r>
          </a:p>
          <a:p>
            <a:pPr algn="r"/>
            <a:r>
              <a:rPr lang="en-US" smtClean="0">
                <a:solidFill>
                  <a:schemeClr val="bg1"/>
                </a:solidFill>
              </a:rPr>
              <a:t>03815003116</a:t>
            </a:r>
            <a:endParaRPr lang="en-US" dirty="0">
              <a:solidFill>
                <a:schemeClr val="bg1"/>
              </a:solidFill>
            </a:endParaRPr>
          </a:p>
        </p:txBody>
      </p:sp>
      <p:cxnSp>
        <p:nvCxnSpPr>
          <p:cNvPr id="6" name="Straight Connector 5"/>
          <p:cNvCxnSpPr/>
          <p:nvPr/>
        </p:nvCxnSpPr>
        <p:spPr>
          <a:xfrm>
            <a:off x="0" y="2057400"/>
            <a:ext cx="9144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0" y="3450566"/>
            <a:ext cx="9144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752600" y="21566"/>
            <a:ext cx="0" cy="685800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9790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672</TotalTime>
  <Words>759</Words>
  <Application>Microsoft Office PowerPoint</Application>
  <PresentationFormat>On-screen Show (4:3)</PresentationFormat>
  <Paragraphs>79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AN AI BASED APPROACH</vt:lpstr>
      <vt:lpstr>PowerPoint Presentation</vt:lpstr>
      <vt:lpstr>PowerPoint Presentation</vt:lpstr>
      <vt:lpstr>PowerPoint Presentation</vt:lpstr>
      <vt:lpstr>MALWARE ANALYSIS LAB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vedaang chopra</dc:creator>
  <cp:lastModifiedBy>vedaang chopra</cp:lastModifiedBy>
  <cp:revision>28</cp:revision>
  <dcterms:created xsi:type="dcterms:W3CDTF">2020-05-19T20:59:12Z</dcterms:created>
  <dcterms:modified xsi:type="dcterms:W3CDTF">2020-10-01T00:00:20Z</dcterms:modified>
</cp:coreProperties>
</file>