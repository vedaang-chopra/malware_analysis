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71" r:id="rId10"/>
    <p:sldId id="269" r:id="rId11"/>
    <p:sldId id="263" r:id="rId12"/>
    <p:sldId id="264" r:id="rId13"/>
    <p:sldId id="273" r:id="rId14"/>
    <p:sldId id="272" r:id="rId15"/>
    <p:sldId id="267" r:id="rId16"/>
  </p:sldIdLst>
  <p:sldSz cx="12192000" cy="6858000"/>
  <p:notesSz cx="6858000" cy="9144000"/>
  <p:embeddedFontLst>
    <p:embeddedFont>
      <p:font typeface="Calibri" panose="020F0502020204030204"/>
      <p:regular r:id="rId20"/>
    </p:embeddedFont>
    <p:embeddedFont>
      <p:font typeface="Arial Narrow" panose="020B0606020202030204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14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1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 panose="020F0502020204030204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4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cxnSp>
        <p:nvCxnSpPr>
          <p:cNvPr id="26" name="Google Shape;26;p1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bg>
      <p:bgPr>
        <a:solidFill>
          <a:schemeClr val="lt1"/>
        </a:solidFill>
        <a:effectLst/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" name="Google Shape;35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1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 panose="020F0502020204030204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6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cxnSp>
        <p:nvCxnSpPr>
          <p:cNvPr id="41" name="Google Shape;41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2" name="Google Shape;52;p18"/>
          <p:cNvSpPr txBox="1"/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4" name="Google Shape;54;p18"/>
          <p:cNvSpPr txBox="1"/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20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showMasterSp="0" matchingName="Content with Caption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 panose="020F0502020204030204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1"/>
          <p:cNvSpPr txBox="1"/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05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matchingName="Picture with Caption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81;p22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 panose="020F0502020204030204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</p:sp>
      <p:sp>
        <p:nvSpPr>
          <p:cNvPr id="83" name="Google Shape;83;p22"/>
          <p:cNvSpPr txBox="1"/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 matchingName="Vertical Title and Text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24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1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 panose="020F0502020204030204"/>
              <a:buNone/>
              <a:defRPr sz="48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3"/>
          <p:cNvSpPr txBox="1"/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 panose="020F0502020204030204"/>
              <a:buChar char=" "/>
              <a:defRPr sz="20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 panose="020F0502020204030204"/>
              <a:buChar char="◦"/>
              <a:defRPr sz="18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06" name="Google Shape;106;p1"/>
          <p:cNvSpPr/>
          <p:nvPr/>
        </p:nvSpPr>
        <p:spPr>
          <a:xfrm>
            <a:off x="952818" y="3061801"/>
            <a:ext cx="10781211" cy="47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34"/>
              </a:buClr>
              <a:buSzPts val="2800"/>
              <a:buFont typeface="Calibri" panose="020F0502020204030204"/>
              <a:buNone/>
            </a:pPr>
            <a:br>
              <a:rPr lang="en-IN" sz="2800" b="0" i="0" u="none" strike="noStrike" cap="none">
                <a:solidFill>
                  <a:srgbClr val="1A203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IN" sz="2800" b="1" u="none" strike="noStrike" cap="none">
                <a:solidFill>
                  <a:srgbClr val="1A203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Review Paper on Anode Development For </a:t>
            </a:r>
            <a:endParaRPr lang="en-IN" sz="2800" b="1" u="none" strike="noStrike" cap="none">
              <a:solidFill>
                <a:srgbClr val="1A20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34"/>
              </a:buClr>
              <a:buSzPts val="2800"/>
              <a:buFont typeface="Calibri" panose="020F0502020204030204"/>
              <a:buNone/>
            </a:pPr>
            <a:r>
              <a:rPr lang="en-IN" sz="2800" b="1" u="none" strike="noStrike" cap="none">
                <a:solidFill>
                  <a:srgbClr val="1A203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Sodium-Ion Batteries</a:t>
            </a:r>
            <a:br>
              <a:rPr lang="en-IN" sz="2800" b="0" i="1" u="none" strike="noStrike" cap="none">
                <a:solidFill>
                  <a:srgbClr val="1A203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IN" sz="2800" b="0" i="1" u="none" strike="noStrike" cap="none">
                <a:solidFill>
                  <a:srgbClr val="1A203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IN" sz="2800" b="0" i="0" u="none" strike="noStrike" cap="none">
                <a:solidFill>
                  <a:srgbClr val="1A203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2800" b="0" i="1" u="none" strike="noStrike" cap="none">
              <a:solidFill>
                <a:srgbClr val="1A20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96865" y="1977101"/>
            <a:ext cx="10998267" cy="155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National Conference on Recent Trends in Climate Change ,Energy and Sustainability  (NCRTCES-2024)</a:t>
            </a:r>
            <a:endParaRPr lang="en-IN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[11 – 12 November 2024]</a:t>
            </a:r>
            <a:endParaRPr lang="en-IN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263525" y="4441190"/>
            <a:ext cx="2766060" cy="13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Author 1</a:t>
            </a:r>
            <a:endParaRPr lang="en-IN" sz="1800" b="1" i="0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Name :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Nikhil Kumar</a:t>
            </a:r>
            <a:endParaRPr 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Affiliation:Maharaja Surajmal Institute of 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Technology</a:t>
            </a:r>
            <a:endParaRPr lang="en-US" alt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pic>
        <p:nvPicPr>
          <p:cNvPr id="110" name="Google Shape;110;p1" descr="Maharaja Surajmal Institute of Technology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0291" y="130468"/>
            <a:ext cx="1253317" cy="1174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10533" y="24623"/>
            <a:ext cx="2127184" cy="165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845957" y="108087"/>
            <a:ext cx="1074480" cy="100797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>
            <p:ph type="ftr" idx="11"/>
          </p:nvPr>
        </p:nvSpPr>
        <p:spPr>
          <a:xfrm>
            <a:off x="90297" y="645979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  <p:sp>
        <p:nvSpPr>
          <p:cNvPr id="1" name="Google Shape;108;p1"/>
          <p:cNvSpPr/>
          <p:nvPr/>
        </p:nvSpPr>
        <p:spPr>
          <a:xfrm>
            <a:off x="2927985" y="4441190"/>
            <a:ext cx="2766060" cy="13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Author </a:t>
            </a:r>
            <a:r>
              <a:rPr lang="en-US" altLang="en-IN" sz="1800" b="1" i="0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2</a:t>
            </a:r>
            <a:endParaRPr lang="en-IN" sz="1800" b="1" i="0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Name :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Harshita Gupta</a:t>
            </a:r>
            <a:endParaRPr 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Affiliation:Maharaja Surajmal Institute of 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Technology</a:t>
            </a:r>
            <a:endParaRPr lang="en-US" alt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2" name="Google Shape;108;p1"/>
          <p:cNvSpPr/>
          <p:nvPr/>
        </p:nvSpPr>
        <p:spPr>
          <a:xfrm>
            <a:off x="5951855" y="4461510"/>
            <a:ext cx="3010535" cy="159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Author </a:t>
            </a:r>
            <a:r>
              <a:rPr lang="en-US" altLang="en-IN" sz="1800" b="1" i="0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3</a:t>
            </a:r>
            <a:endParaRPr lang="en-IN" sz="1800" b="1" i="0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Name :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Navneet Kumar Dubey</a:t>
            </a:r>
            <a:endParaRPr 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Affiliation:Maharaja Surajmal </a:t>
            </a:r>
            <a:endParaRPr 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Institute of 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Technology</a:t>
            </a:r>
            <a:endParaRPr lang="en-US" alt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3" name="Google Shape;108;p1"/>
          <p:cNvSpPr/>
          <p:nvPr/>
        </p:nvSpPr>
        <p:spPr>
          <a:xfrm>
            <a:off x="9048115" y="4364990"/>
            <a:ext cx="2766060" cy="132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Author </a:t>
            </a:r>
            <a:r>
              <a:rPr lang="en-US" altLang="en-IN" sz="1800" b="1" i="0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4</a:t>
            </a:r>
            <a:endParaRPr lang="en-IN" sz="1800" b="1" i="0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Name :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Ishika</a:t>
            </a:r>
            <a:endParaRPr 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Affiliation:Maharaja Surajmal Institute of </a:t>
            </a:r>
            <a:r>
              <a:rPr lang="en-US" altLang="en-IN" sz="1800" b="1" i="1" u="none" strike="noStrike" cap="none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Technology</a:t>
            </a:r>
            <a:endParaRPr lang="en-US" altLang="en-IN" sz="1800" b="1" i="1" u="none" strike="noStrike" cap="none">
              <a:solidFill>
                <a:schemeClr val="dk1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>
            <p:ph type="ftr" idx="11"/>
          </p:nvPr>
        </p:nvSpPr>
        <p:spPr>
          <a:xfrm>
            <a:off x="243022" y="649288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  <p:sp>
        <p:nvSpPr>
          <p:cNvPr id="120" name="Google Shape;120;p2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1" name="Google Shape;121;p2"/>
          <p:cNvSpPr txBox="1"/>
          <p:nvPr/>
        </p:nvSpPr>
        <p:spPr>
          <a:xfrm>
            <a:off x="1981200" y="731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to include	 ?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930856" y="1874837"/>
            <a:ext cx="10120602" cy="432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 slide information may be used for 30-60 seconds presentation; it may be organized as below.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(1 slide)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 Theory/Equation/Problem (1-2 slides)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Brief Related works or Literature survey (1-2 slides)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Detailed Proposed model (3-5 Slides)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Graphs, Tables, Results on proposed model (2-4 Slides)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Comparison, Merits &amp; Demerits(1-2 Slides)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 &amp; Future Work (1-2 Slides)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Acknowledgement (if any)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1680" marR="0" lvl="1" indent="-2844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Char char="–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References (1 Slide)</a:t>
            </a:r>
            <a:endParaRPr lang="en-IN"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 panose="020F050202020403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36" name="Google Shape;136;p4"/>
          <p:cNvSpPr txBox="1"/>
          <p:nvPr/>
        </p:nvSpPr>
        <p:spPr>
          <a:xfrm>
            <a:off x="1825386" y="89376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520587" y="1830386"/>
            <a:ext cx="864596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Market Dominance of Lithium-Ion Batteries (LIBs)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Need for Alternative Battery Technologies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Advantages of Sodium-Ion Batteries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Challenges with Graphite Anodes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Exploration of Alternative Anode Materials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Significance of Hard Carbons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4"/>
          <p:cNvSpPr txBox="1"/>
          <p:nvPr>
            <p:ph type="ftr" idx="11"/>
          </p:nvPr>
        </p:nvSpPr>
        <p:spPr>
          <a:xfrm>
            <a:off x="243022" y="649288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44" name="Google Shape;144;p5"/>
          <p:cNvSpPr txBox="1"/>
          <p:nvPr/>
        </p:nvSpPr>
        <p:spPr>
          <a:xfrm>
            <a:off x="2057400" y="7985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 of the Paper 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415611" y="1966878"/>
            <a:ext cx="951050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paper explores the emerging field of Sodium-Ion Batteries (SIBs) as potential alternatives to the widely used Lithium-Ion Batteries (LIBs). With the increasing demand for sustainable and cost-effective energy storage solutions, SIBs have garnered significant attention due to their eco-friendly nature, cost-effectiveness, and the abundance of sodium resources.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Subject Area</a:t>
            </a:r>
            <a:r>
              <a:rPr lang="en-US" alt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</a:t>
            </a: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Energy Storage Technologies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Related Subject Areas</a:t>
            </a:r>
            <a:r>
              <a:rPr lang="en-US" alt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</a:t>
            </a: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Materials Science</a:t>
            </a:r>
            <a:r>
              <a:rPr lang="en-US" alt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</a:t>
            </a: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Electrochemistry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700"/>
              <a:buNone/>
            </a:pP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Sustainability and Environmental Impact</a:t>
            </a:r>
            <a:r>
              <a:rPr lang="en-US" alt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</a:t>
            </a: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Nanotechnology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700"/>
              <a:buNone/>
            </a:pPr>
            <a:r>
              <a:rPr lang="en-IN" sz="27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Renewable Energy Integration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 panose="020F050202020403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5"/>
          <p:cNvSpPr txBox="1"/>
          <p:nvPr>
            <p:ph type="ftr" idx="11"/>
          </p:nvPr>
        </p:nvSpPr>
        <p:spPr>
          <a:xfrm>
            <a:off x="243022" y="649288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52" name="Google Shape;152;p6"/>
          <p:cNvSpPr txBox="1"/>
          <p:nvPr/>
        </p:nvSpPr>
        <p:spPr>
          <a:xfrm>
            <a:off x="1775225" y="47606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Related works 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670858" y="1772285"/>
            <a:ext cx="9469090" cy="286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Future of Energy Storage | MIT Energy Initiative</a:t>
            </a:r>
            <a:endParaRPr lang="en-IN" sz="2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Energy storage techniques, applications, and recent trends</a:t>
            </a:r>
            <a:endParaRPr lang="en-IN" sz="2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Different energy storage techniques: recent advancements, applications, limitations, and efficient utilization of sustainable energy</a:t>
            </a:r>
            <a:endParaRPr lang="en-IN" sz="2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Next-generation batteries could go organic, cobalt-free for long-lasting power</a:t>
            </a:r>
            <a:endParaRPr lang="en-IN" sz="2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Solid state battery design charges in minutes, lasts for thousands of cycles</a:t>
            </a:r>
            <a:endParaRPr lang="en-IN" sz="2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Discovery of promising electrolyte for all-solid-state batteries</a:t>
            </a:r>
            <a:endParaRPr lang="en-IN" sz="2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Leveraging machine learning to find promising compositions for sodium-ion batteries.  </a:t>
            </a:r>
            <a:endParaRPr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6"/>
          <p:cNvSpPr txBox="1"/>
          <p:nvPr>
            <p:ph type="ftr" idx="11"/>
          </p:nvPr>
        </p:nvSpPr>
        <p:spPr>
          <a:xfrm>
            <a:off x="243022" y="649288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0" name="Google Shape;160;p7"/>
          <p:cNvSpPr txBox="1"/>
          <p:nvPr/>
        </p:nvSpPr>
        <p:spPr>
          <a:xfrm>
            <a:off x="1576871" y="342107"/>
            <a:ext cx="917976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Biomass-Derived Hard Carbons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7"/>
          <p:cNvSpPr txBox="1"/>
          <p:nvPr>
            <p:ph type="ftr" idx="11"/>
          </p:nvPr>
        </p:nvSpPr>
        <p:spPr>
          <a:xfrm>
            <a:off x="243022" y="649288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  <p:sp>
        <p:nvSpPr>
          <p:cNvPr id="1" name="Rectangles 0"/>
          <p:cNvSpPr/>
          <p:nvPr/>
        </p:nvSpPr>
        <p:spPr>
          <a:xfrm>
            <a:off x="479425" y="1772285"/>
            <a:ext cx="11449050" cy="453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576705" y="1591310"/>
            <a:ext cx="9784080" cy="4591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marR="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Characteristics</a:t>
            </a:r>
            <a:endParaRPr lang="en-US" sz="2000" b="0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endParaRPr lang="en-US" sz="2000" b="0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Synthesis Methods</a:t>
            </a:r>
            <a:endParaRPr lang="en-US" sz="2000" b="0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endParaRPr lang="en-US" sz="2000" b="0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Evaluation</a:t>
            </a:r>
            <a:endParaRPr lang="en-US" sz="2000" b="0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endParaRPr lang="en-US" sz="2000" b="0" i="0" u="none" strike="noStrike" cap="none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Challenges and Future Directions</a:t>
            </a:r>
            <a:endParaRPr lang="en-US" sz="2000">
              <a:solidFill>
                <a:srgbClr val="3F3F3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Iron and Manganese-Based Anodes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/>
              <a:t>Role in Energy Storage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Significance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Research Focus on Improving Anode Performance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Electrochemical Activity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Potential Compounds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Outlook on Anode Materials for SIBs and PIBs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Comprehensive Review of Plant-Derived Hard Carbon Anodes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Importance of Finding Suitable Anode for Sodium-Ion Batteries to Enable Practical Usage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en-US"/>
              <a:t>Role of Sodium-Ion Batteries in Energy Storage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Barriers to Wide-Scale Usage of Sodium-Ion Batteries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Search for Suitable Anode Materials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Anode Materials for Sodium-Ion Batteries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Challenges in Anode Material Development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Potential of Iron and Manganese-Based Anodes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Significance of Hard Carbons as Anode Materials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Future Directions in Anode Material Research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8" name="Google Shape;168;p8"/>
          <p:cNvSpPr txBox="1"/>
          <p:nvPr/>
        </p:nvSpPr>
        <p:spPr>
          <a:xfrm>
            <a:off x="2057400" y="70725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Graphs/Results (2-4 Slides)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189703" y="1933822"/>
            <a:ext cx="946074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Most relevant parameters and characteristics of the proposed system may be studied and analyzed.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Appropriate external parameters or raw materials may be used or provided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 may be passed through the relevant and fair conditions and environment.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Competent Machines or simulation tools may be used for experiment and result analysis.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1892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8"/>
          <p:cNvSpPr txBox="1"/>
          <p:nvPr>
            <p:ph type="ftr" idx="11"/>
          </p:nvPr>
        </p:nvSpPr>
        <p:spPr>
          <a:xfrm>
            <a:off x="243022" y="649288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76" name="Google Shape;176;p9"/>
          <p:cNvSpPr txBox="1"/>
          <p:nvPr/>
        </p:nvSpPr>
        <p:spPr>
          <a:xfrm>
            <a:off x="2326870" y="70167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Discussion (1-2 Slides)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307591" y="2005821"/>
            <a:ext cx="1001917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IN" sz="27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 of the proposed system and results can be discussed and substantiated further with two or more case studies.</a:t>
            </a:r>
            <a:endParaRPr lang="en-IN" sz="27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 panose="020F050202020403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9"/>
          <p:cNvSpPr txBox="1"/>
          <p:nvPr>
            <p:ph type="ftr" idx="11"/>
          </p:nvPr>
        </p:nvSpPr>
        <p:spPr>
          <a:xfrm>
            <a:off x="243022" y="649288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NCRTCES 2024</a:t>
            </a:r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Conclusion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en-US"/>
              <a:t>Sodium-ion batteries (SIBs) emerge as promising alternatives to lithium-ion batteries (LIBs) due to their eco-friendly nature, cost-effectiveness, and abundant sodium resources. However, overcoming challenges such as finding suitable anode materials, achieving high energy density, and ensuring long-term stability is crucial for their development.</a:t>
            </a:r>
            <a:endParaRPr lang="en-US"/>
          </a:p>
          <a:p>
            <a:pPr algn="l"/>
            <a:r>
              <a:rPr lang="en-US" b="1" u="sng"/>
              <a:t>1. Anode Material Optimization:</a:t>
            </a:r>
            <a:endParaRPr lang="en-US" b="1" u="sng"/>
          </a:p>
          <a:p>
            <a:r>
              <a:rPr lang="en-US"/>
              <a:t>Biomass-Derived Hard Carbons: High sodium storage capacity and sustainability. Challenges include managing volume changes and achieving comparable energy densities.</a:t>
            </a:r>
            <a:endParaRPr lang="en-US"/>
          </a:p>
          <a:p>
            <a:r>
              <a:rPr lang="en-US"/>
              <a:t>Iron and Manganese-Based Anodes: High reversible capacities with moderate storage potentials. Research focuses on improving initial Coulombic efficiency and addressing electrochemical polarization.</a:t>
            </a:r>
            <a:endParaRPr lang="en-US"/>
          </a:p>
          <a:p>
            <a:r>
              <a:rPr lang="en-US" b="1" u="sng"/>
              <a:t>2.Design Strategies:</a:t>
            </a:r>
            <a:endParaRPr lang="en-US" b="1" u="sng"/>
          </a:p>
          <a:p>
            <a:r>
              <a:rPr lang="en-US"/>
              <a:t>Tuning porosity and doping to enhance performance.</a:t>
            </a:r>
            <a:endParaRPr lang="en-US"/>
          </a:p>
          <a:p>
            <a:r>
              <a:rPr lang="en-US"/>
              <a:t>Optimizing electrolyte and binder formulations.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1097280" y="202565"/>
            <a:ext cx="10058400" cy="5666740"/>
          </a:xfrm>
        </p:spPr>
        <p:txBody>
          <a:bodyPr>
            <a:normAutofit/>
          </a:bodyPr>
          <a:p>
            <a:r>
              <a:rPr lang="en-US" b="1" u="sng"/>
              <a:t>3.Potential of Iron and Manganese-Based Anodes:</a:t>
            </a:r>
            <a:endParaRPr lang="en-US" b="1" u="sng"/>
          </a:p>
          <a:p>
            <a:r>
              <a:rPr lang="en-US"/>
              <a:t>Iron and manganese-based anodes exhibit high reversible capacities and moderate storage potentials, making them attractive candidates for SIBs.</a:t>
            </a:r>
            <a:endParaRPr lang="en-US"/>
          </a:p>
          <a:p>
            <a:r>
              <a:rPr lang="en-US"/>
              <a:t>Ongoing research aims to improve their performance by incorporating extra sodium into the electrolyte and creating scalable morphologies.</a:t>
            </a:r>
            <a:endParaRPr lang="en-US"/>
          </a:p>
          <a:p>
            <a:r>
              <a:rPr lang="en-US" sz="2400" b="1" u="sng"/>
              <a:t>Future Directions:</a:t>
            </a:r>
            <a:endParaRPr lang="en-US" sz="2400" b="1" u="sng"/>
          </a:p>
          <a:p>
            <a:r>
              <a:rPr lang="en-US"/>
              <a:t>Further research is needed to address challenges such as managing volume changes during cycling and enhancing the overall performance of SIBs.</a:t>
            </a:r>
            <a:endParaRPr lang="en-US"/>
          </a:p>
          <a:p>
            <a:r>
              <a:rPr lang="en-US"/>
              <a:t>Investigating innovative doping strategies, nanocomposite designs, and structural modifications will be key to optimizing anode materials for practical applications.</a:t>
            </a:r>
            <a:endParaRPr lang="en-US"/>
          </a:p>
          <a:p>
            <a:r>
              <a:rPr lang="en-US"/>
              <a:t>The continuous exploration and optimization of anode materials for sodium-ion batteries are essential for their adoption in energy storage systems. By addressing current challenges and developing cost-effective, sustainable, and high-performance anode materials, SIBs have the potential to become a widely adopted technology, contributing to the broader adoption of renewable energy and smart grid applications.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>
            <p:ph type="ftr" idx="11"/>
          </p:nvPr>
        </p:nvSpPr>
        <p:spPr>
          <a:xfrm>
            <a:off x="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ICAIA 2024</a:t>
            </a:r>
            <a:endParaRPr lang="en-IN"/>
          </a:p>
        </p:txBody>
      </p:sp>
      <p:sp>
        <p:nvSpPr>
          <p:cNvPr id="200" name="Google Shape;200;p12"/>
          <p:cNvSpPr txBox="1"/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201" name="Google Shape;201;p12"/>
          <p:cNvSpPr txBox="1"/>
          <p:nvPr/>
        </p:nvSpPr>
        <p:spPr>
          <a:xfrm>
            <a:off x="1919722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References  </a:t>
            </a:r>
            <a:endParaRPr lang="en-IN" sz="4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0" y="2012950"/>
            <a:ext cx="11927840" cy="558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</a:t>
            </a: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1] Amit Chanda a, Akshay Pakhare V. Nadimpalli a , * a , Abdulrahman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Alfadhli a , Vijay A. Sethuraman, Real-time measurement of sodiation induced stress in hard carbon composite electrodes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[2] Darío Alvira * , Daniel Antor´ an, Joan J. Manya, Plant-derived hard carbon as anode for sodium-ion batteries: A comprehensive review to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guide interdisciplinary research.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[3] Decai Gong, Chenyang Wei, Zhongwang Liang, and Yongbing Tang, Recent Advances on Sodium-Ion Batteries and Sodium Dual-Ion Batteries: State-of-the-Art Naþ Host Anode Materials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[4] Mingzhe Chena,1, Enhui Wanga,b,1, Qiannan Liua, Xiaodong Guob, Weihua Chenc, Shu-Lei Choua,*, Shi-Xue Dou, Recent progress oniron- and manganese- based anodes for sodium-ion and potassium-ion batteries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[5] Fangxi Xie, Lei Zhang, Chao Ye, Mietek Jaroniec, and Shi-Zhang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Qiao, The Application of Hollow Structured Anodes for Sodium Ion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Batteries: From Simple to Complex Systems.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1630" marR="0" lvl="0" indent="-341630" algn="just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[6] Tahira Perveen a , b , Muhammad Siddiq Muhammad Imran Shahzad a b , * a , Nadia Shahzad, Prospects in anode materials for sodium ion batteries – A review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6763</Words>
  <Application>WPS Presentation</Application>
  <PresentationFormat/>
  <Paragraphs>186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Arial Narrow</vt:lpstr>
      <vt:lpstr>Microsoft YaHei</vt:lpstr>
      <vt:lpstr>Arial Unicode MS</vt:lpstr>
      <vt:lpstr>Retrospect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koyel dattagupta</dc:creator>
  <cp:lastModifiedBy>Nd06w</cp:lastModifiedBy>
  <cp:revision>1</cp:revision>
  <dcterms:created xsi:type="dcterms:W3CDTF">2024-11-10T20:21:38Z</dcterms:created>
  <dcterms:modified xsi:type="dcterms:W3CDTF">2024-11-10T20:21:39Z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45F502B07D7C42668C6BBD782617759A_12</vt:lpwstr>
  </property>
  <property fmtid="{D5CDD505-2E9C-101B-9397-08002B2CF9AE}" pid="3" name="KSOProductBuildVer">
    <vt:lpwstr>1033-12.2.0.18607</vt:lpwstr>
  </property>
</Properties>
</file>